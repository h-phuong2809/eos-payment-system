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16"/>
    <p:sldId id="276" r:id="rId17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7F030-3101-C4BD-4BE1-4389F970A7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4FB8DB-D8E7-8C4D-1274-4E40FA889B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BDFFE-F095-3D36-F072-734341108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33317-F92D-C51B-C49D-A6E94A1E6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6FAF3C-EB77-4F16-246A-8BB914B9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15155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74361-BDF6-4488-EE50-C5E026ECA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3C4BA-5332-2871-75DA-01D6DC644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95704-649B-849F-CBCE-8A69F1331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E9C39-A2BF-BEBC-BE6D-C03961D9C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4005D-7C98-29D9-77A5-158C1A963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34742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8F989-55E7-3A16-D478-926438B3F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EAA73-9099-C837-2077-E4EB1EB6B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844D8-79D9-8C6D-B128-39C02742E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56C4E-010E-9521-C877-B3136AAAD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7AB95-3CE8-896E-2A3B-303D6F15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15732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427C6-34A8-D0D4-C161-18FC73B05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1DAC3-C152-39E7-5B01-04138F0B25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17CC9-72A9-00AC-1F52-FF2B48D43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32ACA-59D8-6ACE-D82D-B7C409AA1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8D6C4B-D826-0922-CC20-12534EA38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A39F-1314-5873-4BA2-F51CCA753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21753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73215-3D02-5B89-1766-FF9B6998E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FA27F0-45BB-1165-43EE-C0D532A35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D902D-3A2C-1294-CF9C-C497B5A1D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4EA53A-C85C-4C3E-3AEC-F0E1413B5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410DA9-F578-2147-936B-DE7ABD772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FA6E5A-7676-CA27-F072-A095E3479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AED8B7-8BC2-73BD-C261-BE93282C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49EB68-EB5B-BD50-2863-E4D4D5EE4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80481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F1779-8685-47EC-F2C2-2AE68A608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5F6EDB-524D-E695-04FB-0A2759FD5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D09BB-C850-A614-B7DD-05BC666C8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CCECE2-2F4B-2199-8FBC-D7613A65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13614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8CCFEB-5C28-594D-2174-90FE951BE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79F003-1FF8-F066-D00E-08B48C28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66C31-5F13-496B-9EF9-DC9FBCED0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69188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B6408-9476-5BD2-D8E7-4D1A29624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A2CE3-8E80-E730-0650-BCD1DC607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B1047-D9EB-9546-922F-DA88CAE8AC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0121DA-C9AE-DC37-0CAF-D13337424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F0F7EC-43C6-E38C-A9AD-6FBA1BD54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5F3C12-51DC-46F2-EA3F-EE8F04EF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75140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FC9F4-B8E1-B2A9-0D2A-867109F4E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F8CD45-E63C-6C09-C106-98CE416A8D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33871-9BA1-2B3B-97B4-D54AEE66D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3E646-05EE-9749-5728-E2A8E7EFF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31319-CECE-66E5-A773-EFE51F717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25616-CF71-7EC8-6E70-96E6AFB43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1588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19080-7D18-ABC5-4DCC-FFF5E5F74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FD9FC-17F3-7963-4E4E-63B4D468D8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04BD3-BFAF-AA72-2C8C-EE281B235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12D92-3C7D-14EF-5CB3-6EC29ED61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26D70-86F9-2E47-2178-EE34D8E1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01643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ACB77-877C-401D-2E9F-49B0F94759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47A10C-F912-CC5B-EA3C-0248780CB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CA433-4DAD-6045-CF02-08A632E7E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98C39-3700-E06F-26DB-0E25119BD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BC5581-CE84-F2CC-536F-E606CBF0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91817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8B08C2-3F8F-6643-123D-8173E03F7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CC071-E377-6DE9-E6A6-38E2BB1F8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CE111-FAC8-E049-6135-F9F3BD8DA7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BEE12-ABC5-C453-67D8-DC416BA43A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42C16-581D-977F-3116-4C5CFAB01A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55318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C8CB06-5B57-3968-9547-FA911E204A0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C2157C-CAD4-517B-77CF-7F51E8DB06CC}"/>
              </a:ext>
            </a:extLst>
          </p:cNvPr>
          <p:cNvSpPr txBox="1"/>
          <p:nvPr/>
        </p:nvSpPr>
        <p:spPr>
          <a:xfrm>
            <a:off x="558800" y="635000"/>
            <a:ext cx="1570789" cy="89255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5800" b="1" dirty="0">
                <a:solidFill>
                  <a:srgbClr val="10B981"/>
                </a:solidFill>
                <a:latin typeface="Aptos" panose="020B0004020202020204" pitchFamily="34" charset="0"/>
              </a:rPr>
              <a:t>EOS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ED8138-7591-D555-5797-C59BF39C3AAE}"/>
              </a:ext>
            </a:extLst>
          </p:cNvPr>
          <p:cNvSpPr txBox="1"/>
          <p:nvPr/>
        </p:nvSpPr>
        <p:spPr>
          <a:xfrm>
            <a:off x="2129589" y="687864"/>
            <a:ext cx="82550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4200" b="1" dirty="0">
                <a:solidFill>
                  <a:srgbClr val="F1F5F9"/>
                </a:solidFill>
                <a:latin typeface="Aptos" panose="020B0004020202020204" pitchFamily="34" charset="0"/>
              </a:rPr>
              <a:t>Payment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A89366-9306-E10A-AB28-42066B8003BC}"/>
              </a:ext>
            </a:extLst>
          </p:cNvPr>
          <p:cNvSpPr txBox="1"/>
          <p:nvPr/>
        </p:nvSpPr>
        <p:spPr>
          <a:xfrm>
            <a:off x="609600" y="1459453"/>
            <a:ext cx="7747000" cy="5539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dirty="0">
                <a:solidFill>
                  <a:srgbClr val="94A3B8"/>
                </a:solidFill>
                <a:latin typeface="Aptos" panose="020B0004020202020204" pitchFamily="34" charset="0"/>
              </a:rPr>
              <a:t>Exactly-Once Semantics for Idempotent Payments in a Distributed Stream Processing System</a:t>
            </a:r>
            <a:endParaRPr lang="vi-VN" dirty="0">
              <a:solidFill>
                <a:srgbClr val="94A3B8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156908-82C8-96EA-98A2-C44EC6203787}"/>
              </a:ext>
            </a:extLst>
          </p:cNvPr>
          <p:cNvSpPr txBox="1"/>
          <p:nvPr/>
        </p:nvSpPr>
        <p:spPr>
          <a:xfrm>
            <a:off x="609600" y="2052310"/>
            <a:ext cx="6609347" cy="12926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Họ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 </a:t>
            </a:r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và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 </a:t>
            </a:r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tên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: </a:t>
            </a:r>
            <a:r>
              <a:rPr lang="vi-VN" sz="2800" b="1" dirty="0">
                <a:solidFill>
                  <a:srgbClr val="F1F5F9"/>
                </a:solidFill>
                <a:latin typeface="Aptos" panose="020B0004020202020204" pitchFamily="34" charset="0"/>
              </a:rPr>
              <a:t>Nguyễn Hoài Phương </a:t>
            </a:r>
            <a:endParaRPr lang="en-US" sz="2800" b="1" dirty="0">
              <a:solidFill>
                <a:srgbClr val="F1F5F9"/>
              </a:solidFill>
              <a:latin typeface="Aptos" panose="020B0004020202020204" pitchFamily="34" charset="0"/>
            </a:endParaRPr>
          </a:p>
          <a:p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MSSV: </a:t>
            </a:r>
            <a:r>
              <a:rPr lang="vi-VN" sz="2800" b="1" dirty="0">
                <a:solidFill>
                  <a:srgbClr val="F1F5F9"/>
                </a:solidFill>
                <a:latin typeface="Aptos" panose="020B0004020202020204" pitchFamily="34" charset="0"/>
              </a:rPr>
              <a:t>N23DCCN183</a:t>
            </a:r>
            <a:endParaRPr lang="en-US" sz="2800" b="1" dirty="0">
              <a:solidFill>
                <a:srgbClr val="F1F5F9"/>
              </a:solidFill>
              <a:latin typeface="Aptos" panose="020B0004020202020204" pitchFamily="34" charset="0"/>
            </a:endParaRPr>
          </a:p>
          <a:p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Lớp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: </a:t>
            </a:r>
            <a:r>
              <a:rPr lang="vi-VN" sz="2800" b="1" dirty="0">
                <a:solidFill>
                  <a:srgbClr val="F1F5F9"/>
                </a:solidFill>
                <a:latin typeface="Aptos" panose="020B0004020202020204" pitchFamily="34" charset="0"/>
              </a:rPr>
              <a:t>D23CQCN03-N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66931-B6E4-F22E-87A4-A492400C45DC}"/>
              </a:ext>
            </a:extLst>
          </p:cNvPr>
          <p:cNvSpPr txBox="1"/>
          <p:nvPr/>
        </p:nvSpPr>
        <p:spPr>
          <a:xfrm>
            <a:off x="609600" y="3415928"/>
            <a:ext cx="8255000" cy="86177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800" dirty="0">
                <a:solidFill>
                  <a:srgbClr val="94A3B8"/>
                </a:solidFill>
                <a:latin typeface="Aptos" panose="020B0004020202020204" pitchFamily="34" charset="0"/>
              </a:rPr>
              <a:t>Môn: Cơ sở dữ liệu phân tán</a:t>
            </a:r>
            <a:endParaRPr lang="en-US" sz="2800" dirty="0">
              <a:solidFill>
                <a:srgbClr val="94A3B8"/>
              </a:solidFill>
              <a:latin typeface="Aptos" panose="020B0004020202020204" pitchFamily="34" charset="0"/>
            </a:endParaRPr>
          </a:p>
          <a:p>
            <a:r>
              <a:rPr lang="vi-VN" sz="2800" dirty="0">
                <a:solidFill>
                  <a:srgbClr val="94A3B8"/>
                </a:solidFill>
                <a:latin typeface="Aptos" panose="020B0004020202020204" pitchFamily="34" charset="0"/>
              </a:rPr>
              <a:t>GVHD: Lê Hà Thanh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CAD4D5-E3BE-8B9B-1BE8-F40DBDF4F2F0}"/>
              </a:ext>
            </a:extLst>
          </p:cNvPr>
          <p:cNvSpPr/>
          <p:nvPr/>
        </p:nvSpPr>
        <p:spPr>
          <a:xfrm>
            <a:off x="8675437" y="2052310"/>
            <a:ext cx="2794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497A6A-E628-5CA4-971C-8AAE12C20BCA}"/>
              </a:ext>
            </a:extLst>
          </p:cNvPr>
          <p:cNvSpPr txBox="1"/>
          <p:nvPr/>
        </p:nvSpPr>
        <p:spPr>
          <a:xfrm>
            <a:off x="8980237" y="2156648"/>
            <a:ext cx="2184400" cy="258532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2400" b="1" dirty="0">
                <a:solidFill>
                  <a:srgbClr val="F1F5F9"/>
                </a:solidFill>
                <a:latin typeface="Aptos" panose="020B0004020202020204" pitchFamily="34" charset="0"/>
              </a:rPr>
              <a:t>Client
Gateway
NODE_A  NODE_B  NODE_C
Global </a:t>
            </a:r>
            <a:r>
              <a:rPr lang="en-US" sz="2400" b="1" dirty="0" err="1">
                <a:solidFill>
                  <a:srgbClr val="F1F5F9"/>
                </a:solidFill>
                <a:latin typeface="Aptos" panose="020B0004020202020204" pitchFamily="34" charset="0"/>
              </a:rPr>
              <a:t>Dedup</a:t>
            </a:r>
            <a:r>
              <a:rPr lang="en-US" sz="2400" b="1" dirty="0">
                <a:solidFill>
                  <a:srgbClr val="F1F5F9"/>
                </a:solidFill>
                <a:latin typeface="Aptos" panose="020B0004020202020204" pitchFamily="34" charset="0"/>
              </a:rPr>
              <a:t> </a:t>
            </a:r>
          </a:p>
          <a:p>
            <a:pPr algn="ctr"/>
            <a:r>
              <a:rPr lang="en-US" sz="2400" b="1" dirty="0">
                <a:solidFill>
                  <a:srgbClr val="F1F5F9"/>
                </a:solidFill>
                <a:latin typeface="Aptos" panose="020B0004020202020204" pitchFamily="34" charset="0"/>
              </a:rPr>
              <a:t>WAL</a:t>
            </a:r>
            <a:endParaRPr lang="vi-VN" sz="24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098353-53A6-F2A0-CCA2-DE5030F3EA5A}"/>
              </a:ext>
            </a:extLst>
          </p:cNvPr>
          <p:cNvSpPr txBox="1"/>
          <p:nvPr/>
        </p:nvSpPr>
        <p:spPr>
          <a:xfrm>
            <a:off x="558800" y="4277701"/>
            <a:ext cx="7394074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2400" dirty="0">
                <a:solidFill>
                  <a:srgbClr val="38BDF8"/>
                </a:solidFill>
                <a:latin typeface="Aptos" panose="020B0004020202020204" pitchFamily="34" charset="0"/>
              </a:rPr>
              <a:t>Đề tài #117  |  Java 21 + Spring Boot + H2 + React + Vite</a:t>
            </a:r>
          </a:p>
        </p:txBody>
      </p:sp>
    </p:spTree>
    <p:extLst>
      <p:ext uri="{BB962C8B-B14F-4D97-AF65-F5344CB8AC3E}">
        <p14:creationId xmlns:p14="http://schemas.microsoft.com/office/powerpoint/2010/main" val="4068121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B08DF8-2DBB-EA91-209A-2504B6CD532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C2D35-9649-D47E-01F8-A447EA980A04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EFE494-F4AD-62E3-C306-A8C331979998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Nội dung trình bày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AD915B-2490-241A-BB7C-BCC0EE009CC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Luồng trình bày bám sát code, dashboard và báo cáo.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CCCE9A-827A-ABA1-2F21-6F0A3040723F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1" name="Card01"/>
          <p:cNvSpPr/>
          <p:nvPr/>
        </p:nvSpPr>
        <p:spPr>
          <a:xfrm>
            <a:off x="533400" y="18800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2" name="Num01"/>
          <p:cNvSpPr txBox="1"/>
          <p:nvPr/>
        </p:nvSpPr>
        <p:spPr>
          <a:xfrm>
            <a:off x="660400" y="19300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10B981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103" name="Text01"/>
          <p:cNvSpPr txBox="1"/>
          <p:nvPr/>
        </p:nvSpPr>
        <p:spPr>
          <a:xfrm>
            <a:off x="1397000" y="19500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Vấn đề &amp; Mục tiêu EOS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Duplicate payment + correctness target</a:t>
            </a:r>
          </a:p>
        </p:txBody>
      </p:sp>
      <p:sp>
        <p:nvSpPr>
          <p:cNvPr id="201" name="Card02"/>
          <p:cNvSpPr/>
          <p:nvPr/>
        </p:nvSpPr>
        <p:spPr>
          <a:xfrm>
            <a:off x="6299200" y="18800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2" name="Num02"/>
          <p:cNvSpPr txBox="1"/>
          <p:nvPr/>
        </p:nvSpPr>
        <p:spPr>
          <a:xfrm>
            <a:off x="6426200" y="19300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22D3EE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203" name="Text02"/>
          <p:cNvSpPr txBox="1"/>
          <p:nvPr/>
        </p:nvSpPr>
        <p:spPr>
          <a:xfrm>
            <a:off x="7162800" y="19500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Kiến trúc hệ thống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Gateway + 3 nodes + global dedup</a:t>
            </a:r>
          </a:p>
        </p:txBody>
      </p:sp>
      <p:sp>
        <p:nvSpPr>
          <p:cNvPr id="301" name="Card03"/>
          <p:cNvSpPr/>
          <p:nvPr/>
        </p:nvSpPr>
        <p:spPr>
          <a:xfrm>
            <a:off x="533400" y="26346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2" name="Num03"/>
          <p:cNvSpPr txBox="1"/>
          <p:nvPr/>
        </p:nvSpPr>
        <p:spPr>
          <a:xfrm>
            <a:off x="660400" y="26846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59E0B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303" name="Text03"/>
          <p:cNvSpPr txBox="1"/>
          <p:nvPr/>
        </p:nvSpPr>
        <p:spPr>
          <a:xfrm>
            <a:off x="1397000" y="27046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Lý thuyết Özsu &amp; Valduriez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Transparency, fragmentation, reliability</a:t>
            </a:r>
          </a:p>
        </p:txBody>
      </p:sp>
      <p:sp>
        <p:nvSpPr>
          <p:cNvPr id="401" name="Card04"/>
          <p:cNvSpPr/>
          <p:nvPr/>
        </p:nvSpPr>
        <p:spPr>
          <a:xfrm>
            <a:off x="6299200" y="26346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02" name="Num04"/>
          <p:cNvSpPr txBox="1"/>
          <p:nvPr/>
        </p:nvSpPr>
        <p:spPr>
          <a:xfrm>
            <a:off x="6426200" y="26846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A78BFA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403" name="Text04"/>
          <p:cNvSpPr txBox="1"/>
          <p:nvPr/>
        </p:nvSpPr>
        <p:spPr>
          <a:xfrm>
            <a:off x="7162800" y="27046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 dirty="0">
                <a:solidFill>
                  <a:srgbClr val="F1F5F9"/>
                </a:solidFill>
                <a:latin typeface="Aptos" panose="020B0004020202020204" pitchFamily="34" charset="0"/>
              </a:rPr>
              <a:t>Cơ chế EOS</a:t>
            </a:r>
          </a:p>
          <a:p>
            <a:r>
              <a:rPr lang="vi-VN" sz="1100" dirty="0">
                <a:solidFill>
                  <a:srgbClr val="94A3B8"/>
                </a:solidFill>
                <a:latin typeface="Aptos" panose="020B0004020202020204" pitchFamily="34" charset="0"/>
              </a:rPr>
              <a:t>Idempotency key, WAL, recovery flow</a:t>
            </a:r>
          </a:p>
        </p:txBody>
      </p:sp>
      <p:sp>
        <p:nvSpPr>
          <p:cNvPr id="501" name="Card05"/>
          <p:cNvSpPr/>
          <p:nvPr/>
        </p:nvSpPr>
        <p:spPr>
          <a:xfrm>
            <a:off x="533400" y="33892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0A5FA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02" name="Num05"/>
          <p:cNvSpPr txBox="1"/>
          <p:nvPr/>
        </p:nvSpPr>
        <p:spPr>
          <a:xfrm>
            <a:off x="660400" y="34392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60A5FA"/>
                </a:solidFill>
                <a:latin typeface="Aptos" panose="020B0004020202020204" pitchFamily="34" charset="0"/>
              </a:rPr>
              <a:t>05</a:t>
            </a:r>
          </a:p>
        </p:txBody>
      </p:sp>
      <p:sp>
        <p:nvSpPr>
          <p:cNvPr id="503" name="Text05"/>
          <p:cNvSpPr txBox="1"/>
          <p:nvPr/>
        </p:nvSpPr>
        <p:spPr>
          <a:xfrm>
            <a:off x="1397000" y="34592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Benchmark Stream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TPS, latency, duplicate charges, window</a:t>
            </a:r>
          </a:p>
        </p:txBody>
      </p:sp>
      <p:sp>
        <p:nvSpPr>
          <p:cNvPr id="601" name="Card06"/>
          <p:cNvSpPr/>
          <p:nvPr/>
        </p:nvSpPr>
        <p:spPr>
          <a:xfrm>
            <a:off x="6299200" y="33892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2" name="Num06"/>
          <p:cNvSpPr txBox="1"/>
          <p:nvPr/>
        </p:nvSpPr>
        <p:spPr>
          <a:xfrm>
            <a:off x="6426200" y="34392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EF4444"/>
                </a:solidFill>
                <a:latin typeface="Aptos" panose="020B0004020202020204" pitchFamily="34" charset="0"/>
              </a:rPr>
              <a:t>06</a:t>
            </a:r>
          </a:p>
        </p:txBody>
      </p:sp>
      <p:sp>
        <p:nvSpPr>
          <p:cNvPr id="603" name="Text06"/>
          <p:cNvSpPr txBox="1"/>
          <p:nvPr/>
        </p:nvSpPr>
        <p:spPr>
          <a:xfrm>
            <a:off x="7162800" y="3459200"/>
            <a:ext cx="4420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 dirty="0">
                <a:solidFill>
                  <a:srgbClr val="F1F5F9"/>
                </a:solidFill>
                <a:latin typeface="Aptos" panose="020B0004020202020204" pitchFamily="34" charset="0"/>
              </a:rPr>
              <a:t>Demo</a:t>
            </a:r>
          </a:p>
          <a:p>
            <a:r>
              <a:rPr lang="en-US" sz="1100" dirty="0">
                <a:solidFill>
                  <a:srgbClr val="94A3B8"/>
                </a:solidFill>
                <a:latin typeface="Aptos" panose="020B0004020202020204" pitchFamily="34" charset="0"/>
              </a:rPr>
              <a:t>Demo</a:t>
            </a:r>
            <a:r>
              <a:rPr lang="vi-VN" sz="1100" dirty="0">
                <a:solidFill>
                  <a:srgbClr val="94A3B8"/>
                </a:solidFill>
                <a:latin typeface="Aptos" panose="020B0004020202020204" pitchFamily="34" charset="0"/>
              </a:rPr>
              <a:t>, hạn chế, hướng phát triển</a:t>
            </a:r>
          </a:p>
        </p:txBody>
      </p:sp>
    </p:spTree>
    <p:extLst>
      <p:ext uri="{BB962C8B-B14F-4D97-AF65-F5344CB8AC3E}">
        <p14:creationId xmlns:p14="http://schemas.microsoft.com/office/powerpoint/2010/main" val="2774081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1B105E-CE5D-1E23-5281-E63C6E5297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5E1DA-C91B-8B57-58B7-EE4025151AA3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01 / PROBLEM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16D01E-E378-56E7-AF24-0F13D667F22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3000" b="1">
                <a:solidFill>
                  <a:srgbClr val="F1F5F9"/>
                </a:solidFill>
                <a:latin typeface="Aptos" panose="020B0004020202020204" pitchFamily="34" charset="0"/>
              </a:rPr>
              <a:t>Vấn đề: duplicate payment trong hệ phân tán</a:t>
            </a:r>
            <a:endParaRPr lang="vi-VN" sz="30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38909-B7B8-E647-023A-A48D385B2C19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Một request có thể đến nhiều lần, đến muộn hoặc đi qua nhiều node.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940931-DFAA-0444-2CAB-20873287643F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0C14D-F307-7616-3023-9095D6326C77}"/>
              </a:ext>
            </a:extLst>
          </p:cNvPr>
          <p:cNvSpPr/>
          <p:nvPr/>
        </p:nvSpPr>
        <p:spPr>
          <a:xfrm>
            <a:off x="812800" y="2057400"/>
            <a:ext cx="4953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45ABF1-383A-A026-1EE0-D7655AAC2078}"/>
              </a:ext>
            </a:extLst>
          </p:cNvPr>
          <p:cNvSpPr txBox="1"/>
          <p:nvPr/>
        </p:nvSpPr>
        <p:spPr>
          <a:xfrm>
            <a:off x="1092200" y="2336800"/>
            <a:ext cx="4191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EF4444"/>
                </a:solidFill>
                <a:latin typeface="Aptos" panose="020B0004020202020204" pitchFamily="34" charset="0"/>
              </a:rPr>
              <a:t>At-Least-Once baseline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E2CD34-D580-6338-B753-B4BBC1988145}"/>
              </a:ext>
            </a:extLst>
          </p:cNvPr>
          <p:cNvSpPr txBox="1"/>
          <p:nvPr/>
        </p:nvSpPr>
        <p:spPr>
          <a:xfrm>
            <a:off x="1143000" y="2921000"/>
            <a:ext cx="41910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Client timeout nhưng request đầu đã tới hệ thống
• Client retry cùng idempotency key
• Gateway có thể route retry sang node khác
• ALO xử lý duplicate thành transaction thật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C9459F7-7362-A15B-C721-8AFC8D2B411B}"/>
              </a:ext>
            </a:extLst>
          </p:cNvPr>
          <p:cNvSpPr/>
          <p:nvPr/>
        </p:nvSpPr>
        <p:spPr>
          <a:xfrm>
            <a:off x="6426200" y="2057400"/>
            <a:ext cx="4953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76BFA4-7F2A-7A2D-7399-F3481BD1553A}"/>
              </a:ext>
            </a:extLst>
          </p:cNvPr>
          <p:cNvSpPr txBox="1"/>
          <p:nvPr/>
        </p:nvSpPr>
        <p:spPr>
          <a:xfrm>
            <a:off x="6705600" y="2336800"/>
            <a:ext cx="4191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10B981"/>
                </a:solidFill>
                <a:latin typeface="Aptos" panose="020B0004020202020204" pitchFamily="34" charset="0"/>
              </a:rPr>
              <a:t>Exactly-Once target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6B169F-A73D-CACA-9A37-75341B7AAF4C}"/>
              </a:ext>
            </a:extLst>
          </p:cNvPr>
          <p:cNvSpPr txBox="1"/>
          <p:nvPr/>
        </p:nvSpPr>
        <p:spPr>
          <a:xfrm>
            <a:off x="6756400" y="2921000"/>
            <a:ext cx="4191000" cy="104644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Mỗi idempotency key chỉ commit một lần
• Duplicate bị reject hoặc trả kết quả cũ
• Global dedup là điểm kiểm soát chung
• WAL bảo vệ recovery sau lỗi giữa chừng</a:t>
            </a:r>
          </a:p>
        </p:txBody>
      </p:sp>
    </p:spTree>
    <p:extLst>
      <p:ext uri="{BB962C8B-B14F-4D97-AF65-F5344CB8AC3E}">
        <p14:creationId xmlns:p14="http://schemas.microsoft.com/office/powerpoint/2010/main" val="3137414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C56EBC-7625-7856-25E5-0D8EA903297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DC01CE-5636-6594-347B-8F4DD8E1ED05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01 / GOALS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02DA6-39B4-7D87-8F37-6DD8151F3D91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Mục tiêu và tiêu chí thành công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B018A7-9844-BBED-D00F-64DE7CB61FFD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Đề tài tập trung vào correctness trước, sau đó mới đo chi phí.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37370C-FF72-FBAB-2A2D-34B4C4A40CA6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60E1A2E-CB22-2D92-C901-301E943456A2}"/>
              </a:ext>
            </a:extLst>
          </p:cNvPr>
          <p:cNvSpPr/>
          <p:nvPr/>
        </p:nvSpPr>
        <p:spPr>
          <a:xfrm>
            <a:off x="787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6975F-211F-6E34-170D-BEE863FFFD9E}"/>
              </a:ext>
            </a:extLst>
          </p:cNvPr>
          <p:cNvSpPr txBox="1"/>
          <p:nvPr/>
        </p:nvSpPr>
        <p:spPr>
          <a:xfrm>
            <a:off x="965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C9C23C-90BA-1C79-A936-A05943FD3FCF}"/>
              </a:ext>
            </a:extLst>
          </p:cNvPr>
          <p:cNvSpPr txBox="1"/>
          <p:nvPr/>
        </p:nvSpPr>
        <p:spPr>
          <a:xfrm>
            <a:off x="965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charges trong EOS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A0A4BFC-552B-5FB2-C520-5C5F312B82FC}"/>
              </a:ext>
            </a:extLst>
          </p:cNvPr>
          <p:cNvSpPr/>
          <p:nvPr/>
        </p:nvSpPr>
        <p:spPr>
          <a:xfrm>
            <a:off x="3581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EEDE2F-1DE2-937C-44ED-C4475FFCF3D4}"/>
              </a:ext>
            </a:extLst>
          </p:cNvPr>
          <p:cNvSpPr txBox="1"/>
          <p:nvPr/>
        </p:nvSpPr>
        <p:spPr>
          <a:xfrm>
            <a:off x="3759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50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0A9611-646A-64E7-CD71-594559016AA9}"/>
              </a:ext>
            </a:extLst>
          </p:cNvPr>
          <p:cNvSpPr txBox="1"/>
          <p:nvPr/>
        </p:nvSpPr>
        <p:spPr>
          <a:xfrm>
            <a:off x="3759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bị EOS chặn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66309B7-B8B6-F913-DB3B-6AA4B8345552}"/>
              </a:ext>
            </a:extLst>
          </p:cNvPr>
          <p:cNvSpPr/>
          <p:nvPr/>
        </p:nvSpPr>
        <p:spPr>
          <a:xfrm>
            <a:off x="6375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54682C-C9D2-FC06-EB77-174171476E5A}"/>
              </a:ext>
            </a:extLst>
          </p:cNvPr>
          <p:cNvSpPr txBox="1"/>
          <p:nvPr/>
        </p:nvSpPr>
        <p:spPr>
          <a:xfrm>
            <a:off x="6553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110 / 110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D2EAFB-8B5C-7E81-1CA0-1C74AF277227}"/>
              </a:ext>
            </a:extLst>
          </p:cNvPr>
          <p:cNvSpPr txBox="1"/>
          <p:nvPr/>
        </p:nvSpPr>
        <p:spPr>
          <a:xfrm>
            <a:off x="6553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WAL / Success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352A246-F8D1-D8B7-B12A-D765A35AC2CD}"/>
              </a:ext>
            </a:extLst>
          </p:cNvPr>
          <p:cNvSpPr/>
          <p:nvPr/>
        </p:nvSpPr>
        <p:spPr>
          <a:xfrm>
            <a:off x="9169400" y="2133600"/>
            <a:ext cx="2159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BFFFE2-49FA-B953-CD49-C66BCB82543B}"/>
              </a:ext>
            </a:extLst>
          </p:cNvPr>
          <p:cNvSpPr txBox="1"/>
          <p:nvPr/>
        </p:nvSpPr>
        <p:spPr>
          <a:xfrm>
            <a:off x="9347200" y="2298700"/>
            <a:ext cx="1803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8 PASS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045032-B94E-974E-CDBA-071AD56CD4E5}"/>
              </a:ext>
            </a:extLst>
          </p:cNvPr>
          <p:cNvSpPr txBox="1"/>
          <p:nvPr/>
        </p:nvSpPr>
        <p:spPr>
          <a:xfrm>
            <a:off x="9347200" y="2743200"/>
            <a:ext cx="1803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Backend tests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77D215-5DEA-D012-A769-E0787401997F}"/>
              </a:ext>
            </a:extLst>
          </p:cNvPr>
          <p:cNvSpPr txBox="1"/>
          <p:nvPr/>
        </p:nvSpPr>
        <p:spPr>
          <a:xfrm>
            <a:off x="1143000" y="3708400"/>
            <a:ext cx="9906000" cy="116955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dirty="0">
                <a:solidFill>
                  <a:srgbClr val="F1F5F9"/>
                </a:solidFill>
                <a:latin typeface="Aptos" panose="020B0004020202020204" pitchFamily="34" charset="0"/>
              </a:rPr>
              <a:t>• Gateway che giấu topology node khỏi client.
• Global dedup store bảo đảm idempotency toàn hệ thống.
• Local WAL giúp chứng minh reliability và recovery.
• Benchmark đo TPS, avg/p50/p95/p99, WAL write latency và window metrics.</a:t>
            </a:r>
          </a:p>
        </p:txBody>
      </p:sp>
    </p:spTree>
    <p:extLst>
      <p:ext uri="{BB962C8B-B14F-4D97-AF65-F5344CB8AC3E}">
        <p14:creationId xmlns:p14="http://schemas.microsoft.com/office/powerpoint/2010/main" val="3724119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FEF1DA-A805-C8A6-0DC7-39BA8443FA5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8AF2C2-E810-3121-60AB-66DF08261E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02 /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A34FE1-DA01-84B5-46F3-42FCF0120515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Kiến trúc tổng quan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78F82E-BA66-BA7C-1A43-E4E7B60FC972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Gateway làm entry point, ba node xử lý có local state, global dedup dùng chung.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6B5B30-01D6-D484-4972-400DD268AA0D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2E13ABD-72E7-1F56-0530-ADDDAEB0263C}"/>
              </a:ext>
            </a:extLst>
          </p:cNvPr>
          <p:cNvSpPr/>
          <p:nvPr/>
        </p:nvSpPr>
        <p:spPr>
          <a:xfrm>
            <a:off x="4191000" y="1828800"/>
            <a:ext cx="3810000" cy="431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0ACD90-63D9-E501-1454-AF7114EEB772}"/>
              </a:ext>
            </a:extLst>
          </p:cNvPr>
          <p:cNvSpPr txBox="1"/>
          <p:nvPr/>
        </p:nvSpPr>
        <p:spPr>
          <a:xfrm>
            <a:off x="4318000" y="2006600"/>
            <a:ext cx="3556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700" b="1">
                <a:solidFill>
                  <a:srgbClr val="F1F5F9"/>
                </a:solidFill>
                <a:latin typeface="Aptos" panose="020B0004020202020204" pitchFamily="34" charset="0"/>
              </a:rPr>
              <a:t>React Dashboard / API Client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DF852B2-6B2F-89E5-E4F3-0F53A109FE60}"/>
              </a:ext>
            </a:extLst>
          </p:cNvPr>
          <p:cNvSpPr/>
          <p:nvPr/>
        </p:nvSpPr>
        <p:spPr>
          <a:xfrm>
            <a:off x="4953000" y="2616200"/>
            <a:ext cx="2286000" cy="736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0A5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487CD8-D3EF-7305-0F73-30800F8DDD66}"/>
              </a:ext>
            </a:extLst>
          </p:cNvPr>
          <p:cNvSpPr txBox="1"/>
          <p:nvPr/>
        </p:nvSpPr>
        <p:spPr>
          <a:xfrm>
            <a:off x="5080000" y="2794000"/>
            <a:ext cx="2032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700" b="1">
                <a:solidFill>
                  <a:srgbClr val="F1F5F9"/>
                </a:solidFill>
                <a:latin typeface="Aptos" panose="020B0004020202020204" pitchFamily="34" charset="0"/>
              </a:rPr>
              <a:t>Gateway API
:8080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BD9DF4F-9AE6-36FC-043B-D424654AB6D9}"/>
              </a:ext>
            </a:extLst>
          </p:cNvPr>
          <p:cNvSpPr/>
          <p:nvPr/>
        </p:nvSpPr>
        <p:spPr>
          <a:xfrm>
            <a:off x="10160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CEB321-052C-32BD-A5BA-C8C97BA51F53}"/>
              </a:ext>
            </a:extLst>
          </p:cNvPr>
          <p:cNvSpPr txBox="1"/>
          <p:nvPr/>
        </p:nvSpPr>
        <p:spPr>
          <a:xfrm>
            <a:off x="11430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NODE_A :8081
node_a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8F38ADE-BCA2-8B75-3421-9DAA551B0F5D}"/>
              </a:ext>
            </a:extLst>
          </p:cNvPr>
          <p:cNvSpPr/>
          <p:nvPr/>
        </p:nvSpPr>
        <p:spPr>
          <a:xfrm>
            <a:off x="48895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1A56C4-8ECC-D1E0-6C23-892F6718CF5C}"/>
              </a:ext>
            </a:extLst>
          </p:cNvPr>
          <p:cNvSpPr txBox="1"/>
          <p:nvPr/>
        </p:nvSpPr>
        <p:spPr>
          <a:xfrm>
            <a:off x="50165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NODE_B :8082
node_b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E6C09EE-B252-E455-71D5-52EE79E922D3}"/>
              </a:ext>
            </a:extLst>
          </p:cNvPr>
          <p:cNvSpPr/>
          <p:nvPr/>
        </p:nvSpPr>
        <p:spPr>
          <a:xfrm>
            <a:off x="87630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BE8DD3-6015-690C-BFD6-EFE08AEEED0A}"/>
              </a:ext>
            </a:extLst>
          </p:cNvPr>
          <p:cNvSpPr txBox="1"/>
          <p:nvPr/>
        </p:nvSpPr>
        <p:spPr>
          <a:xfrm>
            <a:off x="88900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NODE_C :8083
node_c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8A8B9DA-2B6F-A1E1-1911-22FE36EB661F}"/>
              </a:ext>
            </a:extLst>
          </p:cNvPr>
          <p:cNvSpPr/>
          <p:nvPr/>
        </p:nvSpPr>
        <p:spPr>
          <a:xfrm>
            <a:off x="3810000" y="5308600"/>
            <a:ext cx="4572000" cy="711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22FBA1-B0AE-2614-FFB3-E3E4561781A9}"/>
              </a:ext>
            </a:extLst>
          </p:cNvPr>
          <p:cNvSpPr txBox="1"/>
          <p:nvPr/>
        </p:nvSpPr>
        <p:spPr>
          <a:xfrm>
            <a:off x="3937000" y="5486400"/>
            <a:ext cx="4318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700" b="1">
                <a:solidFill>
                  <a:srgbClr val="F1F5F9"/>
                </a:solidFill>
                <a:latin typeface="Aptos" panose="020B0004020202020204" pitchFamily="34" charset="0"/>
              </a:rPr>
              <a:t>Global Dedup H2
idempotency_key -&gt; result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C71AABF-77DD-31AB-72F6-2D0C8EF4E6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2268210"/>
            <a:ext cx="0" cy="34799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8675D53B-2258-015E-3A01-B6B9BEDFA800}"/>
              </a:ext>
            </a:extLst>
          </p:cNvPr>
          <p:cNvCxnSpPr>
            <a:cxnSpLocks/>
            <a:stCxn id="11" idx="3"/>
            <a:endCxn id="17" idx="0"/>
          </p:cNvCxnSpPr>
          <p:nvPr/>
        </p:nvCxnSpPr>
        <p:spPr>
          <a:xfrm>
            <a:off x="7239000" y="2984500"/>
            <a:ext cx="2730500" cy="10287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A622285-0397-1616-9ADE-F0B28960BDB4}"/>
              </a:ext>
            </a:extLst>
          </p:cNvPr>
          <p:cNvCxnSpPr>
            <a:cxnSpLocks/>
            <a:stCxn id="11" idx="1"/>
            <a:endCxn id="13" idx="0"/>
          </p:cNvCxnSpPr>
          <p:nvPr/>
        </p:nvCxnSpPr>
        <p:spPr>
          <a:xfrm rot="10800000" flipV="1">
            <a:off x="2222500" y="2984500"/>
            <a:ext cx="2730500" cy="10287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6550A1-E2F2-3669-3367-ECAA48DDA035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6096000" y="3352800"/>
            <a:ext cx="0" cy="66040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9731B93-F496-0F68-C3EB-3BFA8C41C90A}"/>
              </a:ext>
            </a:extLst>
          </p:cNvPr>
          <p:cNvCxnSpPr>
            <a:cxnSpLocks/>
            <a:stCxn id="13" idx="2"/>
            <a:endCxn id="19" idx="1"/>
          </p:cNvCxnSpPr>
          <p:nvPr/>
        </p:nvCxnSpPr>
        <p:spPr>
          <a:xfrm rot="16200000" flipH="1">
            <a:off x="2635250" y="4489450"/>
            <a:ext cx="762000" cy="15875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3A43DD8-6832-7B8C-D69D-782015692910}"/>
              </a:ext>
            </a:extLst>
          </p:cNvPr>
          <p:cNvCxnSpPr>
            <a:cxnSpLocks/>
            <a:stCxn id="17" idx="2"/>
            <a:endCxn id="19" idx="3"/>
          </p:cNvCxnSpPr>
          <p:nvPr/>
        </p:nvCxnSpPr>
        <p:spPr>
          <a:xfrm rot="5400000">
            <a:off x="8794750" y="4489450"/>
            <a:ext cx="762000" cy="15875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364164F-EADF-38A1-215A-CFA423A75261}"/>
              </a:ext>
            </a:extLst>
          </p:cNvPr>
          <p:cNvCxnSpPr>
            <a:cxnSpLocks/>
            <a:stCxn id="15" idx="2"/>
            <a:endCxn id="19" idx="0"/>
          </p:cNvCxnSpPr>
          <p:nvPr/>
        </p:nvCxnSpPr>
        <p:spPr>
          <a:xfrm>
            <a:off x="6096000" y="4902200"/>
            <a:ext cx="0" cy="40640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1298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5443C2-AF8B-CE72-C273-5B6C3910DD3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84A34-115A-13B1-0EE1-D0E9F60D69A5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02 /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4BC7CC-26F1-0C9D-E24E-D6339162605B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Dataset, state và phân mảnh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015E-7442-7493-8185-B5A986D205D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Dữ liệu demo được sinh có kiểm soát để đo duplicate và event-time disorder.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ACDAA5-5051-388A-72FA-E340C665EF30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C7F5EFD-A5A3-547C-F51F-25788D34EAB4}"/>
              </a:ext>
            </a:extLst>
          </p:cNvPr>
          <p:cNvSpPr/>
          <p:nvPr/>
        </p:nvSpPr>
        <p:spPr>
          <a:xfrm>
            <a:off x="889000" y="2006600"/>
            <a:ext cx="4826000" cy="3175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88DE92-A550-05AA-E063-127AAA922993}"/>
              </a:ext>
            </a:extLst>
          </p:cNvPr>
          <p:cNvSpPr txBox="1"/>
          <p:nvPr/>
        </p:nvSpPr>
        <p:spPr>
          <a:xfrm>
            <a:off x="1219200" y="23114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22D3EE"/>
                </a:solidFill>
                <a:latin typeface="Aptos" panose="020B0004020202020204" pitchFamily="34" charset="0"/>
              </a:rPr>
              <a:t>Local state theo node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080C66-D4C1-CB66-8362-CEBFBEDAD1BD}"/>
              </a:ext>
            </a:extLst>
          </p:cNvPr>
          <p:cNvSpPr txBox="1"/>
          <p:nvPr/>
        </p:nvSpPr>
        <p:spPr>
          <a:xfrm>
            <a:off x="1295400" y="2921000"/>
            <a:ext cx="3810000" cy="183127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700">
                <a:solidFill>
                  <a:srgbClr val="F1F5F9"/>
                </a:solidFill>
                <a:latin typeface="Aptos" panose="020B0004020202020204" pitchFamily="34" charset="0"/>
              </a:rPr>
              <a:t>• account
• payment_request
• payment_transaction
• wal_log_entry
• stream_window
• processor_checkpoint
• processing_node</a:t>
            </a:r>
            <a:endParaRPr lang="vi-VN" sz="170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BA47DC5-166F-61C1-6BDD-575805E78CD4}"/>
              </a:ext>
            </a:extLst>
          </p:cNvPr>
          <p:cNvSpPr/>
          <p:nvPr/>
        </p:nvSpPr>
        <p:spPr>
          <a:xfrm>
            <a:off x="6477000" y="2006600"/>
            <a:ext cx="4826000" cy="3175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D1C50B-D16C-E332-4324-4BABF7CC8AB7}"/>
              </a:ext>
            </a:extLst>
          </p:cNvPr>
          <p:cNvSpPr txBox="1"/>
          <p:nvPr/>
        </p:nvSpPr>
        <p:spPr>
          <a:xfrm>
            <a:off x="6807200" y="23114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 dirty="0">
                <a:solidFill>
                  <a:srgbClr val="F59E0B"/>
                </a:solidFill>
                <a:latin typeface="Aptos" panose="020B0004020202020204" pitchFamily="34" charset="0"/>
              </a:rPr>
              <a:t>Global coordination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41828F-989C-0EA5-0631-283D2516952C}"/>
              </a:ext>
            </a:extLst>
          </p:cNvPr>
          <p:cNvSpPr txBox="1"/>
          <p:nvPr/>
        </p:nvSpPr>
        <p:spPr>
          <a:xfrm>
            <a:off x="6883400" y="2921000"/>
            <a:ext cx="3810000" cy="15696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global_deduplication_record
• Primary key: idempotency_key
• originalRequest + nodeId + eventTimeMs
• resultStatus/resultData để trả kết quả nhất quán</a:t>
            </a:r>
          </a:p>
        </p:txBody>
      </p:sp>
    </p:spTree>
    <p:extLst>
      <p:ext uri="{BB962C8B-B14F-4D97-AF65-F5344CB8AC3E}">
        <p14:creationId xmlns:p14="http://schemas.microsoft.com/office/powerpoint/2010/main" val="102301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904401-307A-5BBA-1500-74F886BB63B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0270D9-0F97-CDE0-C999-A5FE4B5F8880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03 /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97FF63-2037-3D49-106F-6C617B674BAB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Cơ sở lý thuyết Özsu &amp; Valduriez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4414E-0D32-8FF4-402F-DB2F7FC7588D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Các quyết định thiết kế đều gắn với khái niệm CSDL phân tán.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15CE0A-DDA5-CE42-2863-6E4040849736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4C79BA5-EEB2-8B66-0EA1-9C84027AA863}"/>
              </a:ext>
            </a:extLst>
          </p:cNvPr>
          <p:cNvSpPr/>
          <p:nvPr/>
        </p:nvSpPr>
        <p:spPr>
          <a:xfrm>
            <a:off x="787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19E59-8F97-9FD9-64FC-AA96D70F28A1}"/>
              </a:ext>
            </a:extLst>
          </p:cNvPr>
          <p:cNvSpPr txBox="1"/>
          <p:nvPr/>
        </p:nvSpPr>
        <p:spPr>
          <a:xfrm>
            <a:off x="965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Gateway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C0DA4-8CDD-9F99-EA80-1BD163B8C253}"/>
              </a:ext>
            </a:extLst>
          </p:cNvPr>
          <p:cNvSpPr txBox="1"/>
          <p:nvPr/>
        </p:nvSpPr>
        <p:spPr>
          <a:xfrm>
            <a:off x="965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Transparency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1C77E2E-6D7A-E393-6996-FD5299C2C991}"/>
              </a:ext>
            </a:extLst>
          </p:cNvPr>
          <p:cNvSpPr/>
          <p:nvPr/>
        </p:nvSpPr>
        <p:spPr>
          <a:xfrm>
            <a:off x="3581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6CC114-B555-1388-079E-CC19A973C82A}"/>
              </a:ext>
            </a:extLst>
          </p:cNvPr>
          <p:cNvSpPr txBox="1"/>
          <p:nvPr/>
        </p:nvSpPr>
        <p:spPr>
          <a:xfrm>
            <a:off x="3759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Node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D479D2-1ED5-C990-6CB5-4AE3B30EF4F4}"/>
              </a:ext>
            </a:extLst>
          </p:cNvPr>
          <p:cNvSpPr txBox="1"/>
          <p:nvPr/>
        </p:nvSpPr>
        <p:spPr>
          <a:xfrm>
            <a:off x="3759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Fragmentation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77ACE-6670-D8B2-E590-7AC676BAE1EB}"/>
              </a:ext>
            </a:extLst>
          </p:cNvPr>
          <p:cNvSpPr/>
          <p:nvPr/>
        </p:nvSpPr>
        <p:spPr>
          <a:xfrm>
            <a:off x="6375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6D8829-5183-0B03-E81A-0C1AFC2A5833}"/>
              </a:ext>
            </a:extLst>
          </p:cNvPr>
          <p:cNvSpPr txBox="1"/>
          <p:nvPr/>
        </p:nvSpPr>
        <p:spPr>
          <a:xfrm>
            <a:off x="6553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>
                <a:solidFill>
                  <a:srgbClr val="F59E0B"/>
                </a:solidFill>
                <a:latin typeface="Aptos" panose="020B0004020202020204" pitchFamily="34" charset="0"/>
              </a:rPr>
              <a:t>Global dedup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4FABF7-8E1E-5218-768A-5349FBDFF6EA}"/>
              </a:ext>
            </a:extLst>
          </p:cNvPr>
          <p:cNvSpPr txBox="1"/>
          <p:nvPr/>
        </p:nvSpPr>
        <p:spPr>
          <a:xfrm>
            <a:off x="6553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Data control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5BB1FFF-96FF-1DA6-22BC-730E3E7BF826}"/>
              </a:ext>
            </a:extLst>
          </p:cNvPr>
          <p:cNvSpPr/>
          <p:nvPr/>
        </p:nvSpPr>
        <p:spPr>
          <a:xfrm>
            <a:off x="9169400" y="2006600"/>
            <a:ext cx="2159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1E5603-5A10-5822-6214-E9891E3289AC}"/>
              </a:ext>
            </a:extLst>
          </p:cNvPr>
          <p:cNvSpPr txBox="1"/>
          <p:nvPr/>
        </p:nvSpPr>
        <p:spPr>
          <a:xfrm>
            <a:off x="9347200" y="2171700"/>
            <a:ext cx="1803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WAL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40AE3A-7642-A688-BA4C-3A82A7F9EE83}"/>
              </a:ext>
            </a:extLst>
          </p:cNvPr>
          <p:cNvSpPr txBox="1"/>
          <p:nvPr/>
        </p:nvSpPr>
        <p:spPr>
          <a:xfrm>
            <a:off x="9347200" y="2616200"/>
            <a:ext cx="1803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Reliability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739E8-3A1A-5AAF-D198-46F7AE0FB29D}"/>
              </a:ext>
            </a:extLst>
          </p:cNvPr>
          <p:cNvSpPr txBox="1"/>
          <p:nvPr/>
        </p:nvSpPr>
        <p:spPr>
          <a:xfrm>
            <a:off x="1041400" y="3606800"/>
            <a:ext cx="10414000" cy="110799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Distribution/network transparency: client không cần biết request xử lý ở site nào.
• Horizontal fragmentation: mỗi node giữ request, WAL, transaction, window riêng.
• Consistency control: idempotency key phải được kiểm soát toàn cục.
• Recovery: log giúp đưa hệ thống về trạng thái nhất quán sau crash.</a:t>
            </a:r>
          </a:p>
        </p:txBody>
      </p:sp>
    </p:spTree>
    <p:extLst>
      <p:ext uri="{BB962C8B-B14F-4D97-AF65-F5344CB8AC3E}">
        <p14:creationId xmlns:p14="http://schemas.microsoft.com/office/powerpoint/2010/main" val="1224024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1AEB2E-7ED2-5EF3-BBB4-8CC8343AB7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4CF6-2A2E-8352-1944-816E99C3D9B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03 / COST MODEL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E20731-746B-A05B-7EDE-30EA696766CD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Mô hình chi phí phân tán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5B819-D19D-7C33-F3D4-787ECEA1E09E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EOS có thêm coordination và I/O nhưng loại bỏ chi phí nghiệp vụ do duplicate charge.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D48142-8876-1C49-FD6F-FA7F120436F3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73B0946-F0CB-5759-7F32-96C1B21B2FB4}"/>
              </a:ext>
            </a:extLst>
          </p:cNvPr>
          <p:cNvSpPr/>
          <p:nvPr/>
        </p:nvSpPr>
        <p:spPr>
          <a:xfrm>
            <a:off x="889000" y="2032000"/>
            <a:ext cx="1041400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8C7F3-56F4-58CB-2CD5-36C7EA1DB84A}"/>
              </a:ext>
            </a:extLst>
          </p:cNvPr>
          <p:cNvSpPr txBox="1"/>
          <p:nvPr/>
        </p:nvSpPr>
        <p:spPr>
          <a:xfrm>
            <a:off x="1219200" y="2336800"/>
            <a:ext cx="9652000" cy="5539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b="1" dirty="0" err="1">
                <a:solidFill>
                  <a:srgbClr val="F1F5F9"/>
                </a:solidFill>
                <a:latin typeface="Aptos" panose="020B0004020202020204" pitchFamily="34" charset="0"/>
              </a:rPr>
              <a:t>Total_Time</a:t>
            </a:r>
            <a:r>
              <a:rPr lang="fr-FR" b="1" dirty="0">
                <a:solidFill>
                  <a:srgbClr val="F1F5F9"/>
                </a:solidFill>
                <a:latin typeface="Aptos" panose="020B0004020202020204" pitchFamily="34" charset="0"/>
              </a:rPr>
              <a:t> = T_CPU * #instructions + T_IO * #disk_IOs + T_MSG * #messages + T_TR * #bytes_transferred</a:t>
            </a:r>
            <a:endParaRPr lang="vi-VN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9DB041-B2FC-53EA-759D-D96DF2517D83}"/>
              </a:ext>
            </a:extLst>
          </p:cNvPr>
          <p:cNvSpPr/>
          <p:nvPr/>
        </p:nvSpPr>
        <p:spPr>
          <a:xfrm>
            <a:off x="1092200" y="3530600"/>
            <a:ext cx="4572000" cy="1746884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E2C913-B0DC-7963-D106-D85429FAD214}"/>
              </a:ext>
            </a:extLst>
          </p:cNvPr>
          <p:cNvSpPr txBox="1"/>
          <p:nvPr/>
        </p:nvSpPr>
        <p:spPr>
          <a:xfrm>
            <a:off x="1397000" y="3810000"/>
            <a:ext cx="38100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000" b="1">
                <a:solidFill>
                  <a:srgbClr val="10B981"/>
                </a:solidFill>
                <a:latin typeface="Aptos" panose="020B0004020202020204" pitchFamily="34" charset="0"/>
              </a:rPr>
              <a:t>EOS overhead có chủ ý</a:t>
            </a:r>
            <a:endParaRPr lang="vi-VN" sz="2000" b="1">
              <a:solidFill>
                <a:srgbClr val="10B981"/>
              </a:solidFill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6D31DE-6FFE-22CE-E423-D90759E1D39B}"/>
              </a:ext>
            </a:extLst>
          </p:cNvPr>
          <p:cNvSpPr txBox="1"/>
          <p:nvPr/>
        </p:nvSpPr>
        <p:spPr>
          <a:xfrm>
            <a:off x="1473200" y="4292600"/>
            <a:ext cx="3619500" cy="7386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>
                <a:solidFill>
                  <a:srgbClr val="F1F5F9"/>
                </a:solidFill>
                <a:latin typeface="Aptos" panose="020B0004020202020204" pitchFamily="34" charset="0"/>
              </a:rPr>
              <a:t>• global_dedup lookup/claim
• WAL write trước commit
• tail latency cao hơn ALO</a:t>
            </a:r>
            <a:endParaRPr lang="vi-VN" sz="160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37CB17A-B80F-CDB0-3633-033C12AFB53F}"/>
              </a:ext>
            </a:extLst>
          </p:cNvPr>
          <p:cNvSpPr/>
          <p:nvPr/>
        </p:nvSpPr>
        <p:spPr>
          <a:xfrm>
            <a:off x="6527800" y="3530599"/>
            <a:ext cx="4572000" cy="1746885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6FBCC-9C51-316D-3773-A18A4DE8A166}"/>
              </a:ext>
            </a:extLst>
          </p:cNvPr>
          <p:cNvSpPr txBox="1"/>
          <p:nvPr/>
        </p:nvSpPr>
        <p:spPr>
          <a:xfrm>
            <a:off x="6832600" y="3810000"/>
            <a:ext cx="38100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000" b="1">
                <a:solidFill>
                  <a:srgbClr val="EF4444"/>
                </a:solidFill>
                <a:latin typeface="Aptos" panose="020B0004020202020204" pitchFamily="34" charset="0"/>
              </a:rPr>
              <a:t>ALO risk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0B61D4-B3D7-8871-0F13-7080C75B29E4}"/>
              </a:ext>
            </a:extLst>
          </p:cNvPr>
          <p:cNvSpPr txBox="1"/>
          <p:nvPr/>
        </p:nvSpPr>
        <p:spPr>
          <a:xfrm>
            <a:off x="6908800" y="4292600"/>
            <a:ext cx="3619500" cy="98488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600" dirty="0">
                <a:solidFill>
                  <a:srgbClr val="F1F5F9"/>
                </a:solidFill>
                <a:latin typeface="Aptos" panose="020B0004020202020204" pitchFamily="34" charset="0"/>
              </a:rPr>
              <a:t>• ít bước hơn nên nhanh hơn
• không chặn duplicate
• duplicate request thành transaction thật</a:t>
            </a:r>
          </a:p>
        </p:txBody>
      </p:sp>
    </p:spTree>
    <p:extLst>
      <p:ext uri="{BB962C8B-B14F-4D97-AF65-F5344CB8AC3E}">
        <p14:creationId xmlns:p14="http://schemas.microsoft.com/office/powerpoint/2010/main" val="3490635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296BFC-BA1D-2DCD-510A-1C0975FEAA6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4DCEE-C824-73C7-6CE6-1B44490ADF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EOS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827A72-4085-9D9B-567C-E9413DB614F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Luồng xử lý payment ở chế độ EOS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92E1BC-BE33-B81A-16EC-488E8D4068D7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Claim key trước, ghi WAL trước khi cập nhật balance.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F2C880-F7D0-3BD6-D49E-FCD8E2F7015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5866917-4145-0AB0-363E-45E69567D6A4}"/>
              </a:ext>
            </a:extLst>
          </p:cNvPr>
          <p:cNvSpPr/>
          <p:nvPr/>
        </p:nvSpPr>
        <p:spPr>
          <a:xfrm>
            <a:off x="787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02EA41-3B2B-7F9A-5F17-BF5B57B7EAFB}"/>
              </a:ext>
            </a:extLst>
          </p:cNvPr>
          <p:cNvSpPr txBox="1"/>
          <p:nvPr/>
        </p:nvSpPr>
        <p:spPr>
          <a:xfrm>
            <a:off x="9144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>
                <a:solidFill>
                  <a:srgbClr val="F1F5F9"/>
                </a:solidFill>
                <a:latin typeface="Aptos" panose="020B0004020202020204" pitchFamily="34" charset="0"/>
              </a:rPr>
              <a:t>1. Validate event + node status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40C3793-71DF-3D6F-E64E-B685E1CADF2C}"/>
              </a:ext>
            </a:extLst>
          </p:cNvPr>
          <p:cNvSpPr/>
          <p:nvPr/>
        </p:nvSpPr>
        <p:spPr>
          <a:xfrm>
            <a:off x="2628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35F8F8-5CFD-61C2-3AD2-A341A1A3B23C}"/>
              </a:ext>
            </a:extLst>
          </p:cNvPr>
          <p:cNvSpPr txBox="1"/>
          <p:nvPr/>
        </p:nvSpPr>
        <p:spPr>
          <a:xfrm>
            <a:off x="27559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 dirty="0">
                <a:solidFill>
                  <a:srgbClr val="F1F5F9"/>
                </a:solidFill>
                <a:latin typeface="Aptos" panose="020B0004020202020204" pitchFamily="34" charset="0"/>
              </a:rPr>
              <a:t>2. </a:t>
            </a:r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Atomic </a:t>
            </a:r>
            <a:r>
              <a:rPr lang="en-US" sz="1300" b="1" dirty="0" err="1">
                <a:solidFill>
                  <a:srgbClr val="F1F5F9"/>
                </a:solidFill>
                <a:latin typeface="Aptos" panose="020B0004020202020204" pitchFamily="34" charset="0"/>
              </a:rPr>
              <a:t>dedup</a:t>
            </a:r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 check + claim</a:t>
            </a:r>
            <a:endParaRPr lang="vi-VN" sz="13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BFCA27-5910-08CC-471C-C8885FAAC351}"/>
              </a:ext>
            </a:extLst>
          </p:cNvPr>
          <p:cNvSpPr/>
          <p:nvPr/>
        </p:nvSpPr>
        <p:spPr>
          <a:xfrm>
            <a:off x="4470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43568E-3201-818A-8F21-07060D5249B8}"/>
              </a:ext>
            </a:extLst>
          </p:cNvPr>
          <p:cNvSpPr txBox="1"/>
          <p:nvPr/>
        </p:nvSpPr>
        <p:spPr>
          <a:xfrm>
            <a:off x="45974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3. Write WAL PENDING</a:t>
            </a:r>
            <a:endParaRPr lang="vi-VN" sz="13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ECFE563-B2F1-B5B0-8B38-B9DCAF467EA7}"/>
              </a:ext>
            </a:extLst>
          </p:cNvPr>
          <p:cNvSpPr/>
          <p:nvPr/>
        </p:nvSpPr>
        <p:spPr>
          <a:xfrm>
            <a:off x="6311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197F47-5F2E-2439-41FC-9B9DFB6BFEC4}"/>
              </a:ext>
            </a:extLst>
          </p:cNvPr>
          <p:cNvSpPr txBox="1"/>
          <p:nvPr/>
        </p:nvSpPr>
        <p:spPr>
          <a:xfrm>
            <a:off x="64389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 dirty="0">
                <a:solidFill>
                  <a:srgbClr val="F1F5F9"/>
                </a:solidFill>
                <a:latin typeface="Aptos" panose="020B0004020202020204" pitchFamily="34" charset="0"/>
              </a:rPr>
              <a:t>4. Local ACID Transaction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913FC8A-4CC6-EB42-BE2C-D248BC5ACCAD}"/>
              </a:ext>
            </a:extLst>
          </p:cNvPr>
          <p:cNvSpPr/>
          <p:nvPr/>
        </p:nvSpPr>
        <p:spPr>
          <a:xfrm>
            <a:off x="8153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E73C0A-C78F-0CB6-C9B5-9465A9FAB9E4}"/>
              </a:ext>
            </a:extLst>
          </p:cNvPr>
          <p:cNvSpPr txBox="1"/>
          <p:nvPr/>
        </p:nvSpPr>
        <p:spPr>
          <a:xfrm>
            <a:off x="82804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 dirty="0">
                <a:solidFill>
                  <a:srgbClr val="F1F5F9"/>
                </a:solidFill>
                <a:latin typeface="Aptos" panose="020B0004020202020204" pitchFamily="34" charset="0"/>
              </a:rPr>
              <a:t>5. Complete dedup SUCCESS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495E70F-2FCA-289C-3C08-8B1EDBB0A76F}"/>
              </a:ext>
            </a:extLst>
          </p:cNvPr>
          <p:cNvSpPr/>
          <p:nvPr/>
        </p:nvSpPr>
        <p:spPr>
          <a:xfrm>
            <a:off x="9994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74EE2C-F30A-46EC-8608-E1BDDA24BC49}"/>
              </a:ext>
            </a:extLst>
          </p:cNvPr>
          <p:cNvSpPr txBox="1"/>
          <p:nvPr/>
        </p:nvSpPr>
        <p:spPr>
          <a:xfrm>
            <a:off x="101219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6. Mark WAL COMMITTED</a:t>
            </a:r>
            <a:endParaRPr lang="vi-VN" sz="13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8F54AD-0905-146D-D7A0-46B67575B6B1}"/>
              </a:ext>
            </a:extLst>
          </p:cNvPr>
          <p:cNvSpPr txBox="1"/>
          <p:nvPr/>
        </p:nvSpPr>
        <p:spPr>
          <a:xfrm>
            <a:off x="1193800" y="4343400"/>
            <a:ext cx="9652000" cy="83099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Nếu key đã tồn tại: request mới nhận DUPLICATE_REJECTED.
• Nếu node failed: payment bị reject trước khi ghi transaction.
• Toàn bộ thay đổi chính chạy trong transaction local của node.</a:t>
            </a:r>
          </a:p>
        </p:txBody>
      </p:sp>
    </p:spTree>
    <p:extLst>
      <p:ext uri="{BB962C8B-B14F-4D97-AF65-F5344CB8AC3E}">
        <p14:creationId xmlns:p14="http://schemas.microsoft.com/office/powerpoint/2010/main" val="1665451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7F8EF9-BFBA-C97D-3A4F-025889ACBF1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158A17-F5AA-F92A-CBD0-6AD12AD6CF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DEDUP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7264B-9DA3-2516-6D20-0DF721984B94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Global idempotency 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62A149-0C71-CD30-09EB-BB659CAF7158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Điểm kiểm soát nhỏ nhưng quyết định correctness toàn hệ thống.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31FCC-48B5-54B2-F8CC-051850E06A20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985599B-B031-590E-A6AE-9C8CCFFD7575}"/>
              </a:ext>
            </a:extLst>
          </p:cNvPr>
          <p:cNvSpPr/>
          <p:nvPr/>
        </p:nvSpPr>
        <p:spPr>
          <a:xfrm>
            <a:off x="914400" y="2032000"/>
            <a:ext cx="4572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B3655F-17E1-8991-A17B-99F0F62BA5B3}"/>
              </a:ext>
            </a:extLst>
          </p:cNvPr>
          <p:cNvSpPr txBox="1"/>
          <p:nvPr/>
        </p:nvSpPr>
        <p:spPr>
          <a:xfrm>
            <a:off x="1244600" y="23368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F59E0B"/>
                </a:solidFill>
                <a:latin typeface="Aptos" panose="020B0004020202020204" pitchFamily="34" charset="0"/>
              </a:rPr>
              <a:t>GlobalDeduplicationStore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1747F-5695-2AFA-841E-8B8AC8FA1018}"/>
              </a:ext>
            </a:extLst>
          </p:cNvPr>
          <p:cNvSpPr txBox="1"/>
          <p:nvPr/>
        </p:nvSpPr>
        <p:spPr>
          <a:xfrm>
            <a:off x="1320800" y="2946400"/>
            <a:ext cx="37084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idempotency_key là primary key
• claimOrExisting() dùng insert atomic
• completeSuccess() lưu result_data
• deleteExpired() dùng event-time window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BA1B64B-301A-A5DC-FD80-3E403DD9329B}"/>
              </a:ext>
            </a:extLst>
          </p:cNvPr>
          <p:cNvSpPr/>
          <p:nvPr/>
        </p:nvSpPr>
        <p:spPr>
          <a:xfrm>
            <a:off x="6705600" y="2032000"/>
            <a:ext cx="4318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98AD1D-01F6-3F0F-992A-0E24FC5E783F}"/>
              </a:ext>
            </a:extLst>
          </p:cNvPr>
          <p:cNvSpPr txBox="1"/>
          <p:nvPr/>
        </p:nvSpPr>
        <p:spPr>
          <a:xfrm>
            <a:off x="7035800" y="2336800"/>
            <a:ext cx="3302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22D3EE"/>
                </a:solidFill>
                <a:latin typeface="Aptos" panose="020B0004020202020204" pitchFamily="34" charset="0"/>
              </a:rPr>
              <a:t>Kịch bản cross-node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A173B4-5335-7C5C-F8E9-8D5A51479291}"/>
              </a:ext>
            </a:extLst>
          </p:cNvPr>
          <p:cNvSpPr txBox="1"/>
          <p:nvPr/>
        </p:nvSpPr>
        <p:spPr>
          <a:xfrm>
            <a:off x="7112000" y="2946400"/>
            <a:ext cx="31750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Request 1 -&gt; NODE_B -&gt; SUCCESS
• Request 2 cùng key -&gt; NODE_C
• NODE_C thấy key đã claim
• Kết quả: DUPLICATE_REJECTED</a:t>
            </a:r>
          </a:p>
        </p:txBody>
      </p:sp>
    </p:spTree>
    <p:extLst>
      <p:ext uri="{BB962C8B-B14F-4D97-AF65-F5344CB8AC3E}">
        <p14:creationId xmlns:p14="http://schemas.microsoft.com/office/powerpoint/2010/main" val="2784200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4EBAE0-739B-3E58-877D-55640DE5931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F93D0D-A77C-6FC7-316D-D5F6E68AD49A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WAL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BBBB7F-F208-40C8-8507-969D30DF3D5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Write-Ahead Log và recovery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3B3276-119A-C843-F357-08A4D6AAA109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WAL bảo vệ trạng thái khi lỗi xảy ra giữa claim key và commit transaction.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1E461C-2118-A75C-3EE1-61F66EC7D5C9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333749-82B4-82C2-351D-0371C777C727}"/>
              </a:ext>
            </a:extLst>
          </p:cNvPr>
          <p:cNvSpPr/>
          <p:nvPr/>
        </p:nvSpPr>
        <p:spPr>
          <a:xfrm>
            <a:off x="889000" y="2006600"/>
            <a:ext cx="10414000" cy="1041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A68BD9-6B58-4A99-1830-3DE28840061C}"/>
              </a:ext>
            </a:extLst>
          </p:cNvPr>
          <p:cNvSpPr txBox="1"/>
          <p:nvPr/>
        </p:nvSpPr>
        <p:spPr>
          <a:xfrm>
            <a:off x="1219200" y="2387600"/>
            <a:ext cx="9652000" cy="61555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2000" b="1">
                <a:solidFill>
                  <a:srgbClr val="10B981"/>
                </a:solidFill>
                <a:latin typeface="Aptos" panose="020B0004020202020204" pitchFamily="34" charset="0"/>
              </a:rPr>
              <a:t>Rule: ghi WAL PENDING trước khi thay đổi balance, sau commit đánh dấu COMMITTED.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D3F365-9600-F8A1-B9F0-B71F236868B3}"/>
              </a:ext>
            </a:extLst>
          </p:cNvPr>
          <p:cNvSpPr txBox="1"/>
          <p:nvPr/>
        </p:nvSpPr>
        <p:spPr>
          <a:xfrm>
            <a:off x="1320800" y="3581400"/>
            <a:ext cx="9906000" cy="110799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wal_log_entry lưu before/after balance, nodeId, paymentId, idempotencyKey.
• Replay WAL quét PENDING và kiểm tra transaction tương ứng.
• Nếu transaction đã tồn tại: COMMITTED; nếu không: ROLLED_BACK.
• Dashboard có nút Replay WAL để demo recovery path.</a:t>
            </a:r>
          </a:p>
        </p:txBody>
      </p:sp>
    </p:spTree>
    <p:extLst>
      <p:ext uri="{BB962C8B-B14F-4D97-AF65-F5344CB8AC3E}">
        <p14:creationId xmlns:p14="http://schemas.microsoft.com/office/powerpoint/2010/main" val="2519050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4CEFB8-146C-221C-2DAD-C3D5EC3979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9C208-9FEA-2F8B-5FA1-548766F4B09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STREAM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2CA110-5F1A-7566-F3D2-BCBFD9945E48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Event-time stream processing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4D08F6-43F4-0BCC-0EF0-7B95142E047A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Benchmark không chỉ bắn request tuần tự; nó tạo disorder có kiểm soát.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82AEDC-0EA4-7A2D-202F-7AAEEDE4772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5915ED6-1742-62B5-5028-44A6197658D6}"/>
              </a:ext>
            </a:extLst>
          </p:cNvPr>
          <p:cNvSpPr/>
          <p:nvPr/>
        </p:nvSpPr>
        <p:spPr>
          <a:xfrm>
            <a:off x="9398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68872-FAC7-F35D-9026-1BFC5A8F9D8A}"/>
              </a:ext>
            </a:extLst>
          </p:cNvPr>
          <p:cNvSpPr txBox="1"/>
          <p:nvPr/>
        </p:nvSpPr>
        <p:spPr>
          <a:xfrm>
            <a:off x="11176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EF4444"/>
                </a:solidFill>
                <a:latin typeface="Aptos" panose="020B0004020202020204" pitchFamily="34" charset="0"/>
              </a:rPr>
              <a:t>73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4EAB4C-CF83-B11A-7B9C-BA115769414C}"/>
              </a:ext>
            </a:extLst>
          </p:cNvPr>
          <p:cNvSpPr txBox="1"/>
          <p:nvPr/>
        </p:nvSpPr>
        <p:spPr>
          <a:xfrm>
            <a:off x="11176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Out-of-order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718EA-DAB5-A49A-3850-B6F3ACA1E6E3}"/>
              </a:ext>
            </a:extLst>
          </p:cNvPr>
          <p:cNvSpPr/>
          <p:nvPr/>
        </p:nvSpPr>
        <p:spPr>
          <a:xfrm>
            <a:off x="3708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22A16C-8430-8EDE-A7BA-C876A9F6A04F}"/>
              </a:ext>
            </a:extLst>
          </p:cNvPr>
          <p:cNvSpPr txBox="1"/>
          <p:nvPr/>
        </p:nvSpPr>
        <p:spPr>
          <a:xfrm>
            <a:off x="3886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EF4444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C5D911-643E-66C6-0480-B87374F146C8}"/>
              </a:ext>
            </a:extLst>
          </p:cNvPr>
          <p:cNvSpPr txBox="1"/>
          <p:nvPr/>
        </p:nvSpPr>
        <p:spPr>
          <a:xfrm>
            <a:off x="3886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Late events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A26FEE3-AF3E-1127-992A-ABBA09F3D7D5}"/>
              </a:ext>
            </a:extLst>
          </p:cNvPr>
          <p:cNvSpPr/>
          <p:nvPr/>
        </p:nvSpPr>
        <p:spPr>
          <a:xfrm>
            <a:off x="6477000" y="2006600"/>
            <a:ext cx="2921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DAB527-E39C-9B34-8ECA-3E0AE1262ADB}"/>
              </a:ext>
            </a:extLst>
          </p:cNvPr>
          <p:cNvSpPr txBox="1"/>
          <p:nvPr/>
        </p:nvSpPr>
        <p:spPr>
          <a:xfrm>
            <a:off x="6654800" y="2171700"/>
            <a:ext cx="2565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F59E0B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C49261-1851-8BB3-424D-E0C0A2DCC349}"/>
              </a:ext>
            </a:extLst>
          </p:cNvPr>
          <p:cNvSpPr txBox="1"/>
          <p:nvPr/>
        </p:nvSpPr>
        <p:spPr>
          <a:xfrm>
            <a:off x="6654800" y="2616200"/>
            <a:ext cx="2565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Backpressure delayed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FF4D73B-F3A0-E65A-AD46-EB425F77EEE9}"/>
              </a:ext>
            </a:extLst>
          </p:cNvPr>
          <p:cNvSpPr/>
          <p:nvPr/>
        </p:nvSpPr>
        <p:spPr>
          <a:xfrm>
            <a:off x="9753600" y="2006600"/>
            <a:ext cx="16002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D41854-D127-28A6-F3B9-396AEF745AE1}"/>
              </a:ext>
            </a:extLst>
          </p:cNvPr>
          <p:cNvSpPr txBox="1"/>
          <p:nvPr/>
        </p:nvSpPr>
        <p:spPr>
          <a:xfrm>
            <a:off x="9931400" y="2171700"/>
            <a:ext cx="12446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10s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583E13-7092-A1A6-ED16-C0CDE66AA420}"/>
              </a:ext>
            </a:extLst>
          </p:cNvPr>
          <p:cNvSpPr txBox="1"/>
          <p:nvPr/>
        </p:nvSpPr>
        <p:spPr>
          <a:xfrm>
            <a:off x="9931400" y="2616200"/>
            <a:ext cx="1244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Window size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99502E-10D6-69BC-9445-51FEDF9F71D5}"/>
              </a:ext>
            </a:extLst>
          </p:cNvPr>
          <p:cNvSpPr txBox="1"/>
          <p:nvPr/>
        </p:nvSpPr>
        <p:spPr>
          <a:xfrm>
            <a:off x="1168400" y="3606800"/>
            <a:ext cx="9906000" cy="138499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eventTimeMs dùng để tính tumbling window.
• processingTimeMs dùng để đo event lag.
• watermark = maxEventTime - allowedLatenessMs.
• lateEvents tăng khi eventTimeMs nhỏ hơn watermark.
• backpressureDelayed mô phỏng nghẽn khi vượt max-in-flight events.</a:t>
            </a:r>
          </a:p>
        </p:txBody>
      </p:sp>
    </p:spTree>
    <p:extLst>
      <p:ext uri="{BB962C8B-B14F-4D97-AF65-F5344CB8AC3E}">
        <p14:creationId xmlns:p14="http://schemas.microsoft.com/office/powerpoint/2010/main" val="3324969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040408-4063-4CD9-E194-BEDD6B309A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A71FBA-17C7-7F8D-7645-DB1821FD2403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05 / METRICS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F0CC2F-A875-A6B3-D0B6-8347BF68AE6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Benchmark metrics checklist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F0F27D-0486-86E9-6A0A-167DDA0BC4AB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Các chỉ số được đo trực tiếp từ BenchmarkRun và StreamWindow.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D19B33-D8BE-03A6-0E60-F292990D35E5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637E52B-864C-BFA1-A8E6-E43CA3157119}"/>
              </a:ext>
            </a:extLst>
          </p:cNvPr>
          <p:cNvSpPr/>
          <p:nvPr/>
        </p:nvSpPr>
        <p:spPr>
          <a:xfrm>
            <a:off x="787400" y="2006600"/>
            <a:ext cx="2032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3B5FF3-06A8-DC57-4ED3-B07900D333BE}"/>
              </a:ext>
            </a:extLst>
          </p:cNvPr>
          <p:cNvSpPr txBox="1"/>
          <p:nvPr/>
        </p:nvSpPr>
        <p:spPr>
          <a:xfrm>
            <a:off x="965200" y="2171700"/>
            <a:ext cx="1676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TPS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52C6CC-1819-6D28-0E1E-72A5F66FC59A}"/>
              </a:ext>
            </a:extLst>
          </p:cNvPr>
          <p:cNvSpPr txBox="1"/>
          <p:nvPr/>
        </p:nvSpPr>
        <p:spPr>
          <a:xfrm>
            <a:off x="965200" y="2616200"/>
            <a:ext cx="1676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Throughput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D503C5-2A5D-1488-D671-D6D32CD82344}"/>
              </a:ext>
            </a:extLst>
          </p:cNvPr>
          <p:cNvSpPr/>
          <p:nvPr/>
        </p:nvSpPr>
        <p:spPr>
          <a:xfrm>
            <a:off x="3073400" y="2006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C7D2B4-3623-6113-248C-56383CB0FEA9}"/>
              </a:ext>
            </a:extLst>
          </p:cNvPr>
          <p:cNvSpPr txBox="1"/>
          <p:nvPr/>
        </p:nvSpPr>
        <p:spPr>
          <a:xfrm>
            <a:off x="3251200" y="2171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 dirty="0">
                <a:solidFill>
                  <a:srgbClr val="22D3EE"/>
                </a:solidFill>
                <a:latin typeface="Aptos" panose="020B0004020202020204" pitchFamily="34" charset="0"/>
              </a:rPr>
              <a:t>avg/p50/p95/p99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792F75-FC83-4376-7564-A6AF6AA700F1}"/>
              </a:ext>
            </a:extLst>
          </p:cNvPr>
          <p:cNvSpPr txBox="1"/>
          <p:nvPr/>
        </p:nvSpPr>
        <p:spPr>
          <a:xfrm>
            <a:off x="3251200" y="2616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Latency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4062B57-C49F-635B-EC5E-CB8B1C038284}"/>
              </a:ext>
            </a:extLst>
          </p:cNvPr>
          <p:cNvSpPr/>
          <p:nvPr/>
        </p:nvSpPr>
        <p:spPr>
          <a:xfrm>
            <a:off x="5994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5A1F34-A536-BFA7-4D95-5F62AC6EF1C2}"/>
              </a:ext>
            </a:extLst>
          </p:cNvPr>
          <p:cNvSpPr txBox="1"/>
          <p:nvPr/>
        </p:nvSpPr>
        <p:spPr>
          <a:xfrm>
            <a:off x="6172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 dirty="0">
                <a:solidFill>
                  <a:srgbClr val="EF4444"/>
                </a:solidFill>
                <a:latin typeface="Aptos" panose="020B0004020202020204" pitchFamily="34" charset="0"/>
              </a:rPr>
              <a:t>ALO risk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958C8C-11C8-17E4-D7C6-8628EDB8CBB8}"/>
              </a:ext>
            </a:extLst>
          </p:cNvPr>
          <p:cNvSpPr txBox="1"/>
          <p:nvPr/>
        </p:nvSpPr>
        <p:spPr>
          <a:xfrm>
            <a:off x="6172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charges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95FFBA8-DB58-8510-A1C2-B99886848D03}"/>
              </a:ext>
            </a:extLst>
          </p:cNvPr>
          <p:cNvSpPr/>
          <p:nvPr/>
        </p:nvSpPr>
        <p:spPr>
          <a:xfrm>
            <a:off x="8661400" y="2006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71325F-6867-7D5B-90A3-7D39FAE78446}"/>
              </a:ext>
            </a:extLst>
          </p:cNvPr>
          <p:cNvSpPr txBox="1"/>
          <p:nvPr/>
        </p:nvSpPr>
        <p:spPr>
          <a:xfrm>
            <a:off x="8839200" y="2171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EOS reject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823DDE-9C52-CE6B-0E71-F9B23C457EF0}"/>
              </a:ext>
            </a:extLst>
          </p:cNvPr>
          <p:cNvSpPr txBox="1"/>
          <p:nvPr/>
        </p:nvSpPr>
        <p:spPr>
          <a:xfrm>
            <a:off x="8839200" y="2616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Duplicates blocked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B5F48BD-1922-4DE1-D902-48786C73E6BA}"/>
              </a:ext>
            </a:extLst>
          </p:cNvPr>
          <p:cNvSpPr/>
          <p:nvPr/>
        </p:nvSpPr>
        <p:spPr>
          <a:xfrm>
            <a:off x="2032000" y="3530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A8D4F1-48D9-85AF-1317-E6BBEFF735F9}"/>
              </a:ext>
            </a:extLst>
          </p:cNvPr>
          <p:cNvSpPr txBox="1"/>
          <p:nvPr/>
        </p:nvSpPr>
        <p:spPr>
          <a:xfrm>
            <a:off x="2209800" y="3695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F59E0B"/>
                </a:solidFill>
                <a:latin typeface="Aptos" panose="020B0004020202020204" pitchFamily="34" charset="0"/>
              </a:rPr>
              <a:t>1.42 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6B8077-4785-1056-22D7-220A73B30637}"/>
              </a:ext>
            </a:extLst>
          </p:cNvPr>
          <p:cNvSpPr txBox="1"/>
          <p:nvPr/>
        </p:nvSpPr>
        <p:spPr>
          <a:xfrm>
            <a:off x="2209800" y="4140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WAL write latency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26EFE39-2819-B592-60C7-B530B474C72B}"/>
              </a:ext>
            </a:extLst>
          </p:cNvPr>
          <p:cNvSpPr/>
          <p:nvPr/>
        </p:nvSpPr>
        <p:spPr>
          <a:xfrm>
            <a:off x="5016500" y="3530600"/>
            <a:ext cx="2794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402144-5A47-5C3A-6F0B-8E3B0F71DCD2}"/>
              </a:ext>
            </a:extLst>
          </p:cNvPr>
          <p:cNvSpPr txBox="1"/>
          <p:nvPr/>
        </p:nvSpPr>
        <p:spPr>
          <a:xfrm>
            <a:off x="5194300" y="3695700"/>
            <a:ext cx="2438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TPS + latency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B9DA55-C8DF-2D91-F4C4-69E2DFDB831C}"/>
              </a:ext>
            </a:extLst>
          </p:cNvPr>
          <p:cNvSpPr txBox="1"/>
          <p:nvPr/>
        </p:nvSpPr>
        <p:spPr>
          <a:xfrm>
            <a:off x="5194300" y="4140200"/>
            <a:ext cx="2438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Window metrics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9A8F364-8F7A-423E-8844-DAE5E08ABDF3}"/>
              </a:ext>
            </a:extLst>
          </p:cNvPr>
          <p:cNvSpPr/>
          <p:nvPr/>
        </p:nvSpPr>
        <p:spPr>
          <a:xfrm>
            <a:off x="8128000" y="3530600"/>
            <a:ext cx="2286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F3DE45-FF09-49B7-33B3-22A9C142139F}"/>
              </a:ext>
            </a:extLst>
          </p:cNvPr>
          <p:cNvSpPr txBox="1"/>
          <p:nvPr/>
        </p:nvSpPr>
        <p:spPr>
          <a:xfrm>
            <a:off x="8305800" y="3695700"/>
            <a:ext cx="1930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>
                <a:solidFill>
                  <a:srgbClr val="EF4444"/>
                </a:solidFill>
                <a:latin typeface="Aptos" panose="020B0004020202020204" pitchFamily="34" charset="0"/>
              </a:rPr>
              <a:t>OOO/Late/BP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C65736-B62D-E82F-2D7D-70C0F49BB77A}"/>
              </a:ext>
            </a:extLst>
          </p:cNvPr>
          <p:cNvSpPr txBox="1"/>
          <p:nvPr/>
        </p:nvSpPr>
        <p:spPr>
          <a:xfrm>
            <a:off x="8305800" y="4140200"/>
            <a:ext cx="1930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Disorder</a:t>
            </a:r>
          </a:p>
        </p:txBody>
      </p:sp>
    </p:spTree>
    <p:extLst>
      <p:ext uri="{BB962C8B-B14F-4D97-AF65-F5344CB8AC3E}">
        <p14:creationId xmlns:p14="http://schemas.microsoft.com/office/powerpoint/2010/main" val="32036345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2F98A-C77B-4C79-1016-6BADDBDCAEA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53619-4E38-EF85-C4E0-FB79DEC5F7A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05 / TESTS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49D3E9-533A-D40E-CE48-C757874F5C76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 dirty="0">
                <a:solidFill>
                  <a:srgbClr val="F1F5F9"/>
                </a:solidFill>
                <a:latin typeface="Aptos" panose="020B0004020202020204" pitchFamily="34" charset="0"/>
              </a:rPr>
              <a:t>Các te</a:t>
            </a:r>
            <a:r>
              <a:rPr lang="en-US" sz="3000" b="1" dirty="0">
                <a:solidFill>
                  <a:srgbClr val="F1F5F9"/>
                </a:solidFill>
                <a:latin typeface="Aptos" panose="020B0004020202020204" pitchFamily="34" charset="0"/>
              </a:rPr>
              <a:t>st demo</a:t>
            </a:r>
            <a:endParaRPr lang="vi-VN" sz="30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044685-07CE-B0D5-644D-96B919C9747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Backend test suite pass và dashboard có thao tác demo tương ứng.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C04E5-B3F8-37D8-BF66-0FB7FD8C435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85966D-C5DA-9649-2E87-4EB70B898B15}"/>
              </a:ext>
            </a:extLst>
          </p:cNvPr>
          <p:cNvSpPr txBox="1"/>
          <p:nvPr/>
        </p:nvSpPr>
        <p:spPr>
          <a:xfrm>
            <a:off x="965200" y="2006600"/>
            <a:ext cx="10414000" cy="443198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 1. </a:t>
            </a:r>
            <a:r>
              <a:rPr lang="en-US" b="1" dirty="0" err="1">
                <a:solidFill>
                  <a:schemeClr val="bg1"/>
                </a:solidFill>
              </a:rPr>
              <a:t>eosRejectsDuplicateAndCommitsOnce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EOS reject duplicate </a:t>
            </a:r>
            <a:r>
              <a:rPr lang="en-US" dirty="0" err="1">
                <a:solidFill>
                  <a:schemeClr val="bg1"/>
                </a:solidFill>
              </a:rPr>
              <a:t>và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chỉ</a:t>
            </a:r>
            <a:r>
              <a:rPr lang="en-US" dirty="0">
                <a:solidFill>
                  <a:schemeClr val="bg1"/>
                </a:solidFill>
              </a:rPr>
              <a:t> commit 1 transaction.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2. </a:t>
            </a:r>
            <a:r>
              <a:rPr lang="en-US" b="1" dirty="0" err="1">
                <a:solidFill>
                  <a:schemeClr val="bg1"/>
                </a:solidFill>
              </a:rPr>
              <a:t>aloProcessesDuplicates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ALO </a:t>
            </a:r>
            <a:r>
              <a:rPr lang="en-US" dirty="0" err="1">
                <a:solidFill>
                  <a:schemeClr val="bg1"/>
                </a:solidFill>
              </a:rPr>
              <a:t>xử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lý</a:t>
            </a:r>
            <a:r>
              <a:rPr lang="en-US" dirty="0">
                <a:solidFill>
                  <a:schemeClr val="bg1"/>
                </a:solidFill>
              </a:rPr>
              <a:t> duplicate </a:t>
            </a:r>
            <a:r>
              <a:rPr lang="en-US" dirty="0" err="1">
                <a:solidFill>
                  <a:schemeClr val="bg1"/>
                </a:solidFill>
              </a:rPr>
              <a:t>thành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nhiều</a:t>
            </a:r>
            <a:r>
              <a:rPr lang="en-US" dirty="0">
                <a:solidFill>
                  <a:schemeClr val="bg1"/>
                </a:solidFill>
              </a:rPr>
              <a:t> transaction </a:t>
            </a:r>
            <a:r>
              <a:rPr lang="en-US" dirty="0" err="1">
                <a:solidFill>
                  <a:schemeClr val="bg1"/>
                </a:solidFill>
              </a:rPr>
              <a:t>để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làm</a:t>
            </a:r>
            <a:r>
              <a:rPr lang="en-US" dirty="0">
                <a:solidFill>
                  <a:schemeClr val="bg1"/>
                </a:solidFill>
              </a:rPr>
              <a:t> baseline.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3. </a:t>
            </a:r>
            <a:r>
              <a:rPr lang="en-US" b="1" dirty="0" err="1">
                <a:solidFill>
                  <a:schemeClr val="bg1"/>
                </a:solidFill>
              </a:rPr>
              <a:t>outOfOrderRetryUsesEventTimeWindow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retry </a:t>
            </a:r>
            <a:r>
              <a:rPr lang="en-US" dirty="0" err="1">
                <a:solidFill>
                  <a:schemeClr val="bg1"/>
                </a:solidFill>
              </a:rPr>
              <a:t>lệch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thứ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vẫn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bị</a:t>
            </a:r>
            <a:r>
              <a:rPr lang="en-US" dirty="0">
                <a:solidFill>
                  <a:schemeClr val="bg1"/>
                </a:solidFill>
              </a:rPr>
              <a:t> de-dup </a:t>
            </a:r>
            <a:r>
              <a:rPr lang="en-US" dirty="0" err="1">
                <a:solidFill>
                  <a:schemeClr val="bg1"/>
                </a:solidFill>
              </a:rPr>
              <a:t>theo</a:t>
            </a:r>
            <a:r>
              <a:rPr lang="en-US" dirty="0">
                <a:solidFill>
                  <a:schemeClr val="bg1"/>
                </a:solidFill>
              </a:rPr>
              <a:t> event-time.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4. </a:t>
            </a:r>
            <a:r>
              <a:rPr lang="en-US" b="1" dirty="0" err="1">
                <a:solidFill>
                  <a:schemeClr val="bg1"/>
                </a:solidFill>
              </a:rPr>
              <a:t>concurrentEosDuplicateStillCommitsOnce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concurrent race: </a:t>
            </a:r>
            <a:r>
              <a:rPr lang="en-US" dirty="0" err="1">
                <a:solidFill>
                  <a:schemeClr val="bg1"/>
                </a:solidFill>
              </a:rPr>
              <a:t>nhiều</a:t>
            </a:r>
            <a:r>
              <a:rPr lang="en-US" dirty="0">
                <a:solidFill>
                  <a:schemeClr val="bg1"/>
                </a:solidFill>
              </a:rPr>
              <a:t> request </a:t>
            </a:r>
            <a:r>
              <a:rPr lang="en-US" dirty="0" err="1">
                <a:solidFill>
                  <a:schemeClr val="bg1"/>
                </a:solidFill>
              </a:rPr>
              <a:t>cùng</a:t>
            </a:r>
            <a:r>
              <a:rPr lang="en-US" dirty="0">
                <a:solidFill>
                  <a:schemeClr val="bg1"/>
                </a:solidFill>
              </a:rPr>
              <a:t> key </a:t>
            </a:r>
            <a:r>
              <a:rPr lang="en-US" dirty="0" err="1">
                <a:solidFill>
                  <a:schemeClr val="bg1"/>
                </a:solidFill>
              </a:rPr>
              <a:t>nhưng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chỉ</a:t>
            </a:r>
            <a:r>
              <a:rPr lang="en-US" dirty="0">
                <a:solidFill>
                  <a:schemeClr val="bg1"/>
                </a:solidFill>
              </a:rPr>
              <a:t> 1 SUCCESS.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5. </a:t>
            </a:r>
            <a:r>
              <a:rPr lang="en-US" b="1" dirty="0" err="1">
                <a:solidFill>
                  <a:schemeClr val="bg1"/>
                </a:solidFill>
              </a:rPr>
              <a:t>nodeFailureRejectsPayment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node FAILED </a:t>
            </a:r>
            <a:r>
              <a:rPr lang="en-US" dirty="0" err="1">
                <a:solidFill>
                  <a:schemeClr val="bg1"/>
                </a:solidFill>
              </a:rPr>
              <a:t>thì</a:t>
            </a:r>
            <a:r>
              <a:rPr lang="en-US" dirty="0">
                <a:solidFill>
                  <a:schemeClr val="bg1"/>
                </a:solidFill>
              </a:rPr>
              <a:t> payment </a:t>
            </a:r>
            <a:r>
              <a:rPr lang="en-US" dirty="0" err="1">
                <a:solidFill>
                  <a:schemeClr val="bg1"/>
                </a:solidFill>
              </a:rPr>
              <a:t>bị</a:t>
            </a:r>
            <a:r>
              <a:rPr lang="en-US" dirty="0">
                <a:solidFill>
                  <a:schemeClr val="bg1"/>
                </a:solidFill>
              </a:rPr>
              <a:t> reject 503.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6. </a:t>
            </a:r>
            <a:r>
              <a:rPr lang="en-US" b="1" dirty="0" err="1">
                <a:solidFill>
                  <a:schemeClr val="bg1"/>
                </a:solidFill>
              </a:rPr>
              <a:t>benchmarkShowsEosBlocksDuplicatesAndAloDoesNot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benchmark: EOS </a:t>
            </a:r>
            <a:r>
              <a:rPr lang="en-US" dirty="0" err="1">
                <a:solidFill>
                  <a:schemeClr val="bg1"/>
                </a:solidFill>
              </a:rPr>
              <a:t>chặn</a:t>
            </a:r>
            <a:r>
              <a:rPr lang="en-US" dirty="0">
                <a:solidFill>
                  <a:schemeClr val="bg1"/>
                </a:solidFill>
              </a:rPr>
              <a:t> duplicate, ALO </a:t>
            </a:r>
            <a:r>
              <a:rPr lang="en-US" dirty="0" err="1">
                <a:solidFill>
                  <a:schemeClr val="bg1"/>
                </a:solidFill>
              </a:rPr>
              <a:t>không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chặn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</a:t>
            </a:r>
            <a:r>
              <a:rPr lang="en-US" b="1" dirty="0">
                <a:solidFill>
                  <a:schemeClr val="bg1"/>
                </a:solidFill>
              </a:rPr>
              <a:t>7. </a:t>
            </a:r>
            <a:r>
              <a:rPr lang="en-US" b="1" dirty="0" err="1">
                <a:solidFill>
                  <a:schemeClr val="bg1"/>
                </a:solidFill>
              </a:rPr>
              <a:t>gatewayRoleUsesGatewayPaymentService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profile gateway </a:t>
            </a:r>
            <a:r>
              <a:rPr lang="en-US" dirty="0" err="1">
                <a:solidFill>
                  <a:schemeClr val="bg1"/>
                </a:solidFill>
              </a:rPr>
              <a:t>dùng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đúng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GatewayPaymentService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8. </a:t>
            </a:r>
            <a:r>
              <a:rPr lang="en-US" b="1" dirty="0" err="1">
                <a:solidFill>
                  <a:schemeClr val="bg1"/>
                </a:solidFill>
              </a:rPr>
              <a:t>configuredNodeOnlyProcessesItsOwnNodeId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node profile </a:t>
            </a:r>
            <a:r>
              <a:rPr lang="en-US" dirty="0" err="1">
                <a:solidFill>
                  <a:schemeClr val="bg1"/>
                </a:solidFill>
              </a:rPr>
              <a:t>chỉ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xử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lý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đúng</a:t>
            </a:r>
            <a:r>
              <a:rPr lang="en-US" dirty="0">
                <a:solidFill>
                  <a:schemeClr val="bg1"/>
                </a:solidFill>
              </a:rPr>
              <a:t> node-id </a:t>
            </a:r>
            <a:r>
              <a:rPr lang="en-US" dirty="0" err="1">
                <a:solidFill>
                  <a:schemeClr val="bg1"/>
                </a:solidFill>
              </a:rPr>
              <a:t>của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nó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vi-VN" sz="17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0461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9E50D7-B87E-808B-65A7-EE68DC2CC635}"/>
              </a:ext>
            </a:extLst>
          </p:cNvPr>
          <p:cNvSpPr/>
          <p:nvPr/>
        </p:nvSpPr>
        <p:spPr>
          <a:xfrm>
            <a:off x="0" y="39539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FA511-4D8D-799F-E4FE-94B4919A2E06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06 / LIMITS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C3A201-7587-5072-98F1-8A24A12DCD3C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Hạn chế hiện tại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F3EE82-70DE-57F9-3D0D-6B56B43E16BA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Thiết kế phù hợp scope môn học, chưa phải production-grade payment platform.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950389-3891-3784-D090-20188118D379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390576-05EA-762F-8180-A1BA2A593E9B}"/>
              </a:ext>
            </a:extLst>
          </p:cNvPr>
          <p:cNvSpPr txBox="1"/>
          <p:nvPr/>
        </p:nvSpPr>
        <p:spPr>
          <a:xfrm>
            <a:off x="1092200" y="2006600"/>
            <a:ext cx="9906000" cy="175432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dirty="0">
                <a:solidFill>
                  <a:srgbClr val="F1F5F9"/>
                </a:solidFill>
                <a:latin typeface="Aptos" panose="020B0004020202020204" pitchFamily="34" charset="0"/>
              </a:rPr>
              <a:t>• Global dedup store là coordination point tập trung.
• Account state được seed giống nhau ở các node để đơn giản hóa demo.
• Chưa có distributed commit protocol kiểu 2PC cho transfer chạm nhiều shard account.</a:t>
            </a:r>
            <a:endParaRPr lang="en-US" sz="1900" dirty="0">
              <a:solidFill>
                <a:srgbClr val="F1F5F9"/>
              </a:solidFill>
              <a:latin typeface="Aptos" panose="020B0004020202020204" pitchFamily="34" charset="0"/>
            </a:endParaRPr>
          </a:p>
          <a:p>
            <a:r>
              <a:rPr lang="vi-VN" sz="1900" dirty="0">
                <a:solidFill>
                  <a:srgbClr val="F1F5F9"/>
                </a:solidFill>
                <a:latin typeface="Aptos" panose="020B0004020202020204" pitchFamily="34" charset="0"/>
              </a:rPr>
              <a:t>• Chưa có recovery timeout cho de-dup record PROCESSING nếu node crash trước khi ghi WAL. 
• Benchmark chạy local, network WAN latency chưa được mô phỏng sâu.
• Backpressure hiện là simulation counter, chưa phải queue broker thực như Kafka.</a:t>
            </a:r>
          </a:p>
        </p:txBody>
      </p:sp>
    </p:spTree>
    <p:extLst>
      <p:ext uri="{BB962C8B-B14F-4D97-AF65-F5344CB8AC3E}">
        <p14:creationId xmlns:p14="http://schemas.microsoft.com/office/powerpoint/2010/main" val="37191568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343256-1592-60D7-8C61-D4BEA9D09E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3959C7-78AE-5FF0-0DFB-6C7624D4A798}"/>
              </a:ext>
            </a:extLst>
          </p:cNvPr>
          <p:cNvSpPr txBox="1"/>
          <p:nvPr/>
        </p:nvSpPr>
        <p:spPr>
          <a:xfrm>
            <a:off x="0" y="1300000"/>
            <a:ext cx="12192000" cy="83099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5400" b="1">
                <a:solidFill>
                  <a:srgbClr val="10B981"/>
                </a:solidFill>
                <a:latin typeface="Aptos" panose="020B0004020202020204" pitchFamily="34" charset="0"/>
              </a:rPr>
              <a:t>Cảm ơn!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0" y="2200000"/>
            <a:ext cx="12192000" cy="3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600">
                <a:solidFill>
                  <a:srgbClr val="94A3B8"/>
                </a:solidFill>
                <a:latin typeface="Aptos" panose="020B0004020202020204" pitchFamily="34" charset="0"/>
              </a:rPr>
              <a:t>Hội đồng có câu hỏi không?</a:t>
            </a:r>
          </a:p>
        </p:txBody>
      </p:sp>
      <p:sp>
        <p:nvSpPr>
          <p:cNvPr id="11" name="Divider"/>
          <p:cNvSpPr/>
          <p:nvPr/>
        </p:nvSpPr>
        <p:spPr>
          <a:xfrm>
            <a:off x="4064000" y="2700000"/>
            <a:ext cx="40640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ProjectInfo"/>
          <p:cNvSpPr txBox="1"/>
          <p:nvPr/>
        </p:nvSpPr>
        <p:spPr>
          <a:xfrm>
            <a:off x="1524000" y="2800000"/>
            <a:ext cx="9144000" cy="900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 lIns="228600" tIns="91440" rIns="228600" bIns="91440" rtlCol="0" anchor="ctr"/>
          <a:lstStyle/>
          <a:p>
            <a:pPr algn="ctr"/>
            <a:r>
              <a:rPr lang="vi-VN" sz="1300" b="1">
                <a:solidFill>
                  <a:srgbClr val="F1F5F9"/>
                </a:solidFill>
                <a:latin typeface="Aptos" panose="020B0004020202020204" pitchFamily="34" charset="0"/>
              </a:rPr>
              <a:t>Nguyễn Hoài Phương  ·  N23DCCN183  ·  D23CQCN03-N</a:t>
            </a:r>
          </a:p>
          <a:p>
            <a:pPr algn="ctr"/>
            <a:r>
              <a:rPr lang="vi-VN" sz="1100">
                <a:solidFill>
                  <a:srgbClr val="10B981"/>
                </a:solidFill>
                <a:latin typeface="Aptos" panose="020B0004020202020204" pitchFamily="34" charset="0"/>
              </a:rPr>
              <a:t>Đề tài #117  ·  Java 21 + Spring Boot + H2 + React + Vite  ·  GVHD: Lê Hà Thanh</a:t>
            </a:r>
          </a:p>
        </p:txBody>
      </p:sp>
    </p:spTree>
    <p:extLst>
      <p:ext uri="{BB962C8B-B14F-4D97-AF65-F5344CB8AC3E}">
        <p14:creationId xmlns:p14="http://schemas.microsoft.com/office/powerpoint/2010/main" val="3602141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1461</Words>
  <Application>Microsoft Office PowerPoint</Application>
  <PresentationFormat>Widescreen</PresentationFormat>
  <Paragraphs>166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Nguyễn Phương</dc:creator>
  <cp:lastModifiedBy>Nguyễn Phương</cp:lastModifiedBy>
  <cp:revision>6</cp:revision>
  <dcterms:created xsi:type="dcterms:W3CDTF">2026-05-31T14:26:13Z</dcterms:created>
  <dcterms:modified xsi:type="dcterms:W3CDTF">2026-06-02T14:51:27Z</dcterms:modified>
</cp:coreProperties>
</file>