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6" r:id="rId21"/>
  </p:sldIdLst>
  <p:sldSz cx="12192000" cy="6858000"/>
  <p:notesSz cx="6858000" cy="9144000"/>
  <p:defaultTextStyle>
    <a:defPPr>
      <a:defRPr lang="vi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3" d="100"/>
          <a:sy n="63" d="100"/>
        </p:scale>
        <p:origin x="114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B7F030-3101-C4BD-4BE1-4389F970A7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4FB8DB-D8E7-8C4D-1274-4E40FA889B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vi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3BDFFE-F095-3D36-F072-734341108E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7747E-FE7D-4488-9C1D-2D2E2936D1F7}" type="datetimeFigureOut">
              <a:rPr lang="vi-VN" smtClean="0"/>
              <a:t>31/05/2026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833317-F92D-C51B-C49D-A6E94A1E6F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6FAF3C-EB77-4F16-246A-8BB914B92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892CD-70DF-4213-A1F3-6D9466688BF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5151556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E74361-BDF6-4488-EE50-C5E026ECA7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D3C4BA-5332-2871-75DA-01D6DC6442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95704-649B-849F-CBCE-8A69F1331B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7747E-FE7D-4488-9C1D-2D2E2936D1F7}" type="datetimeFigureOut">
              <a:rPr lang="vi-VN" smtClean="0"/>
              <a:t>31/05/2026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1E9C39-A2BF-BEBC-BE6D-C03961D9C8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B4005D-7C98-29D9-77A5-158C1A963E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892CD-70DF-4213-A1F3-6D9466688BF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0347428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8F989-55E7-3A16-D478-926438B3F0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CEAA73-9099-C837-2077-E4EB1EB6BA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B844D8-79D9-8C6D-B128-39C02742EE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7747E-FE7D-4488-9C1D-2D2E2936D1F7}" type="datetimeFigureOut">
              <a:rPr lang="vi-VN" smtClean="0"/>
              <a:t>31/05/2026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C56C4E-010E-9521-C877-B3136AAADD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97AB95-3CE8-896E-2A3B-303D6F1524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892CD-70DF-4213-A1F3-6D9466688BF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0157323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427C6-34A8-D0D4-C161-18FC73B05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81DAC3-C152-39E7-5B01-04138F0B250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517CC9-72A9-00AC-1F52-FF2B48D430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632ACA-59D8-6ACE-D82D-B7C409AA1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7747E-FE7D-4488-9C1D-2D2E2936D1F7}" type="datetimeFigureOut">
              <a:rPr lang="vi-VN" smtClean="0"/>
              <a:t>31/05/2026</a:t>
            </a:fld>
            <a:endParaRPr lang="vi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8D6C4B-D826-0922-CC20-12534EA383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75A39F-1314-5873-4BA2-F51CCA753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892CD-70DF-4213-A1F3-6D9466688BF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6217530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73215-3D02-5B89-1766-FF9B6998ED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FA27F0-45BB-1165-43EE-C0D532A357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2D902D-3A2C-1294-CF9C-C497B5A1DA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14EA53A-C85C-4C3E-3AEC-F0E1413B5C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410DA9-F578-2147-936B-DE7ABD7721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5FA6E5A-7676-CA27-F072-A095E34790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7747E-FE7D-4488-9C1D-2D2E2936D1F7}" type="datetimeFigureOut">
              <a:rPr lang="vi-VN" smtClean="0"/>
              <a:t>31/05/2026</a:t>
            </a:fld>
            <a:endParaRPr lang="vi-V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2AED8B7-8BC2-73BD-C261-BE93282C07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49EB68-EB5B-BD50-2863-E4D4D5EE48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892CD-70DF-4213-A1F3-6D9466688BF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9804816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BF1779-8685-47EC-F2C2-2AE68A608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55F6EDB-524D-E695-04FB-0A2759FD5C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7747E-FE7D-4488-9C1D-2D2E2936D1F7}" type="datetimeFigureOut">
              <a:rPr lang="vi-VN" smtClean="0"/>
              <a:t>31/05/2026</a:t>
            </a:fld>
            <a:endParaRPr lang="vi-V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BD09BB-C850-A614-B7DD-05BC666C8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CCECE2-2F4B-2199-8FBC-D7613A652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892CD-70DF-4213-A1F3-6D9466688BF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4136142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28CCFEB-5C28-594D-2174-90FE951BEF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7747E-FE7D-4488-9C1D-2D2E2936D1F7}" type="datetimeFigureOut">
              <a:rPr lang="vi-VN" smtClean="0"/>
              <a:t>31/05/2026</a:t>
            </a:fld>
            <a:endParaRPr lang="vi-V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79F003-1FF8-F066-D00E-08B48C28F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66C31-5F13-496B-9EF9-DC9FBCED09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892CD-70DF-4213-A1F3-6D9466688BF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5691881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6B6408-9476-5BD2-D8E7-4D1A29624C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8A2CE3-8E80-E730-0650-BCD1DC6073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6B1047-D9EB-9546-922F-DA88CAE8AC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0121DA-C9AE-DC37-0CAF-D133374248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7747E-FE7D-4488-9C1D-2D2E2936D1F7}" type="datetimeFigureOut">
              <a:rPr lang="vi-VN" smtClean="0"/>
              <a:t>31/05/2026</a:t>
            </a:fld>
            <a:endParaRPr lang="vi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F0F7EC-43C6-E38C-A9AD-6FBA1BD549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5F3C12-51DC-46F2-EA3F-EE8F04EFB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892CD-70DF-4213-A1F3-6D9466688BF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0751409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CFC9F4-B8E1-B2A9-0D2A-867109F4E0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1F8CD45-E63C-6C09-C106-98CE416A8D2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vi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933871-9BA1-2B3B-97B4-D54AEE66D1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E3E646-05EE-9749-5728-E2A8E7EFF5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7747E-FE7D-4488-9C1D-2D2E2936D1F7}" type="datetimeFigureOut">
              <a:rPr lang="vi-VN" smtClean="0"/>
              <a:t>31/05/2026</a:t>
            </a:fld>
            <a:endParaRPr lang="vi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531319-CECE-66E5-A773-EFE51F717F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A25616-CF71-7EC8-6E70-96E6AFB435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892CD-70DF-4213-A1F3-6D9466688BF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915883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19080-7D18-ABC5-4DCC-FFF5E5F74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5FD9FC-17F3-7963-4E4E-63B4D468D8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804BD3-BFAF-AA72-2C8C-EE281B2356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7747E-FE7D-4488-9C1D-2D2E2936D1F7}" type="datetimeFigureOut">
              <a:rPr lang="vi-VN" smtClean="0"/>
              <a:t>31/05/2026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F12D92-3C7D-14EF-5CB3-6EC29ED619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726D70-86F9-2E47-2178-EE34D8E13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892CD-70DF-4213-A1F3-6D9466688BF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6016434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66ACB77-877C-401D-2E9F-49B0F94759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447A10C-F912-CC5B-EA3C-0248780CB9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7CA433-4DAD-6045-CF02-08A632E7E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7747E-FE7D-4488-9C1D-2D2E2936D1F7}" type="datetimeFigureOut">
              <a:rPr lang="vi-VN" smtClean="0"/>
              <a:t>31/05/2026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198C39-3700-E06F-26DB-0E25119BD4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BC5581-CE84-F2CC-536F-E606CBF04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892CD-70DF-4213-A1F3-6D9466688BF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691817300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88B08C2-3F8F-6643-123D-8173E03F72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2CC071-E377-6DE9-E6A6-38E2BB1F8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DCE111-FAC8-E049-6135-F9F3BD8DA7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37747E-FE7D-4488-9C1D-2D2E2936D1F7}" type="datetimeFigureOut">
              <a:rPr lang="vi-VN" smtClean="0"/>
              <a:t>31/05/2026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FBEE12-ABC5-C453-67D8-DC416BA43A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242C16-581D-977F-3116-4C5CFAB01A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2892CD-70DF-4213-A1F3-6D9466688BF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7553183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vi-V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FC8CB06-5B57-3968-9547-FA911E204A0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C2157C-CAD4-517B-77CF-7F51E8DB06CC}"/>
              </a:ext>
            </a:extLst>
          </p:cNvPr>
          <p:cNvSpPr txBox="1"/>
          <p:nvPr/>
        </p:nvSpPr>
        <p:spPr>
          <a:xfrm>
            <a:off x="558800" y="635000"/>
            <a:ext cx="2032000" cy="89255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5800" b="1">
                <a:solidFill>
                  <a:srgbClr val="10B981"/>
                </a:solidFill>
                <a:latin typeface="Aptos" panose="020B0004020202020204" pitchFamily="34" charset="0"/>
              </a:rPr>
              <a:t>EOS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ED8138-7591-D555-5797-C59BF39C3AAE}"/>
              </a:ext>
            </a:extLst>
          </p:cNvPr>
          <p:cNvSpPr txBox="1"/>
          <p:nvPr/>
        </p:nvSpPr>
        <p:spPr>
          <a:xfrm>
            <a:off x="558800" y="1498600"/>
            <a:ext cx="8255000" cy="64633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4200" b="1">
                <a:solidFill>
                  <a:srgbClr val="F1F5F9"/>
                </a:solidFill>
                <a:latin typeface="Aptos" panose="020B0004020202020204" pitchFamily="34" charset="0"/>
              </a:rPr>
              <a:t>Payment System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A89366-9306-E10A-AB28-42066B8003BC}"/>
              </a:ext>
            </a:extLst>
          </p:cNvPr>
          <p:cNvSpPr txBox="1"/>
          <p:nvPr/>
        </p:nvSpPr>
        <p:spPr>
          <a:xfrm>
            <a:off x="609600" y="2311400"/>
            <a:ext cx="7747000" cy="492443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600">
                <a:solidFill>
                  <a:srgbClr val="94A3B8"/>
                </a:solidFill>
                <a:latin typeface="Aptos" panose="020B0004020202020204" pitchFamily="34" charset="0"/>
              </a:rPr>
              <a:t>Exactly-Once Semantics for Idempotent Payments in a Distributed Stream Processing System</a:t>
            </a:r>
            <a:endParaRPr lang="vi-VN" sz="1600">
              <a:solidFill>
                <a:srgbClr val="94A3B8"/>
              </a:solidFill>
              <a:latin typeface="Aptos" panose="020B00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156908-82C8-96EA-98A2-C44EC6203787}"/>
              </a:ext>
            </a:extLst>
          </p:cNvPr>
          <p:cNvSpPr txBox="1"/>
          <p:nvPr/>
        </p:nvSpPr>
        <p:spPr>
          <a:xfrm>
            <a:off x="609600" y="2819400"/>
            <a:ext cx="82550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600" b="1">
                <a:solidFill>
                  <a:srgbClr val="F1F5F9"/>
                </a:solidFill>
                <a:latin typeface="Aptos" panose="020B0004020202020204" pitchFamily="34" charset="0"/>
              </a:rPr>
              <a:t>Nguyễn Hoài Phương - N23DCCN183 - D23CQCN03-N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366931-B6E4-F22E-87A4-A492400C45DC}"/>
              </a:ext>
            </a:extLst>
          </p:cNvPr>
          <p:cNvSpPr txBox="1"/>
          <p:nvPr/>
        </p:nvSpPr>
        <p:spPr>
          <a:xfrm>
            <a:off x="609600" y="3200400"/>
            <a:ext cx="8255000" cy="2308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500">
                <a:solidFill>
                  <a:srgbClr val="94A3B8"/>
                </a:solidFill>
                <a:latin typeface="Aptos" panose="020B0004020202020204" pitchFamily="34" charset="0"/>
              </a:rPr>
              <a:t>Môn: Cơ sở dữ liệu phân tán | GVHD: Lê Hà Thanh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CCAD4D5-E3BE-8B9B-1BE8-F40DBDF4F2F0}"/>
              </a:ext>
            </a:extLst>
          </p:cNvPr>
          <p:cNvSpPr/>
          <p:nvPr/>
        </p:nvSpPr>
        <p:spPr>
          <a:xfrm>
            <a:off x="8763000" y="863600"/>
            <a:ext cx="2794000" cy="2794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497A6A-E628-5CA4-971C-8AAE12C20BCA}"/>
              </a:ext>
            </a:extLst>
          </p:cNvPr>
          <p:cNvSpPr txBox="1"/>
          <p:nvPr/>
        </p:nvSpPr>
        <p:spPr>
          <a:xfrm>
            <a:off x="9067800" y="1270000"/>
            <a:ext cx="2184400" cy="138499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b="1">
                <a:solidFill>
                  <a:srgbClr val="F1F5F9"/>
                </a:solidFill>
                <a:latin typeface="Aptos" panose="020B0004020202020204" pitchFamily="34" charset="0"/>
              </a:rPr>
              <a:t>Client
Gateway
NODE_A  NODE_B  NODE_C
Global Dedup + WAL</a:t>
            </a:r>
            <a:endParaRPr lang="vi-VN" b="1">
              <a:solidFill>
                <a:srgbClr val="F1F5F9"/>
              </a:solidFill>
              <a:latin typeface="Aptos" panose="020B00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E098353-53A6-F2A0-CCA2-DE5030F3EA5A}"/>
              </a:ext>
            </a:extLst>
          </p:cNvPr>
          <p:cNvSpPr txBox="1"/>
          <p:nvPr/>
        </p:nvSpPr>
        <p:spPr>
          <a:xfrm>
            <a:off x="609600" y="3632200"/>
            <a:ext cx="91440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600">
                <a:solidFill>
                  <a:srgbClr val="38BDF8"/>
                </a:solidFill>
                <a:latin typeface="Aptos" panose="020B0004020202020204" pitchFamily="34" charset="0"/>
              </a:rPr>
              <a:t>Đề tài #117  |  Java 21 + Spring Boot + H2 + React + Vite</a:t>
            </a:r>
          </a:p>
        </p:txBody>
      </p:sp>
    </p:spTree>
    <p:extLst>
      <p:ext uri="{BB962C8B-B14F-4D97-AF65-F5344CB8AC3E}">
        <p14:creationId xmlns:p14="http://schemas.microsoft.com/office/powerpoint/2010/main" val="40681213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8B08DF8-2DBB-EA91-209A-2504B6CD532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1C2D35-9649-D47E-01F8-A447EA980A04}"/>
              </a:ext>
            </a:extLst>
          </p:cNvPr>
          <p:cNvSpPr txBox="1"/>
          <p:nvPr/>
        </p:nvSpPr>
        <p:spPr>
          <a:xfrm>
            <a:off x="533400" y="330200"/>
            <a:ext cx="2286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100" b="1">
                <a:solidFill>
                  <a:srgbClr val="10B981"/>
                </a:solidFill>
                <a:latin typeface="Aptos" panose="020B0004020202020204" pitchFamily="34" charset="0"/>
              </a:rPr>
              <a:t>AGENDA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4EFE494-F4AD-62E3-C306-A8C331979998}"/>
              </a:ext>
            </a:extLst>
          </p:cNvPr>
          <p:cNvSpPr txBox="1"/>
          <p:nvPr/>
        </p:nvSpPr>
        <p:spPr>
          <a:xfrm>
            <a:off x="533400" y="660400"/>
            <a:ext cx="9906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F1F5F9"/>
                </a:solidFill>
                <a:latin typeface="Aptos" panose="020B0004020202020204" pitchFamily="34" charset="0"/>
              </a:rPr>
              <a:t>Nội dung trình bày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AD915B-2490-241A-BB7C-BCC0EE009CC6}"/>
              </a:ext>
            </a:extLst>
          </p:cNvPr>
          <p:cNvSpPr txBox="1"/>
          <p:nvPr/>
        </p:nvSpPr>
        <p:spPr>
          <a:xfrm>
            <a:off x="558800" y="1270000"/>
            <a:ext cx="1041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400">
                <a:solidFill>
                  <a:srgbClr val="94A3B8"/>
                </a:solidFill>
                <a:latin typeface="Aptos" panose="020B0004020202020204" pitchFamily="34" charset="0"/>
              </a:rPr>
              <a:t>Luồng trình bày bám sát code, dashboard và báo cáo.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7CCCE9A-827A-ABA1-2F21-6F0A3040723F}"/>
              </a:ext>
            </a:extLst>
          </p:cNvPr>
          <p:cNvSpPr/>
          <p:nvPr/>
        </p:nvSpPr>
        <p:spPr>
          <a:xfrm>
            <a:off x="533400" y="1600200"/>
            <a:ext cx="111252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1" name="Card01"/>
          <p:cNvSpPr/>
          <p:nvPr/>
        </p:nvSpPr>
        <p:spPr>
          <a:xfrm>
            <a:off x="533400" y="1880000"/>
            <a:ext cx="5360800" cy="660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2" name="Num01"/>
          <p:cNvSpPr txBox="1"/>
          <p:nvPr/>
        </p:nvSpPr>
        <p:spPr>
          <a:xfrm>
            <a:off x="660400" y="1930000"/>
            <a:ext cx="609600" cy="50000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10B981"/>
                </a:solidFill>
                <a:latin typeface="Aptos" panose="020B0004020202020204" pitchFamily="34" charset="0"/>
              </a:rPr>
              <a:t>01</a:t>
            </a:r>
          </a:p>
        </p:txBody>
      </p:sp>
      <p:sp>
        <p:nvSpPr>
          <p:cNvPr id="103" name="Text01"/>
          <p:cNvSpPr txBox="1"/>
          <p:nvPr/>
        </p:nvSpPr>
        <p:spPr>
          <a:xfrm>
            <a:off x="1397000" y="1950000"/>
            <a:ext cx="4420000" cy="56000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500" b="1">
                <a:solidFill>
                  <a:srgbClr val="F1F5F9"/>
                </a:solidFill>
                <a:latin typeface="Aptos" panose="020B0004020202020204" pitchFamily="34" charset="0"/>
              </a:rPr>
              <a:t>Vấn đề &amp; Mục tiêu EOS</a:t>
            </a:r>
          </a:p>
          <a:p>
            <a:r>
              <a:rPr lang="vi-VN" sz="1100">
                <a:solidFill>
                  <a:srgbClr val="94A3B8"/>
                </a:solidFill>
                <a:latin typeface="Aptos" panose="020B0004020202020204" pitchFamily="34" charset="0"/>
              </a:rPr>
              <a:t>Duplicate payment + correctness target</a:t>
            </a:r>
          </a:p>
        </p:txBody>
      </p:sp>
      <p:sp>
        <p:nvSpPr>
          <p:cNvPr id="201" name="Card02"/>
          <p:cNvSpPr/>
          <p:nvPr/>
        </p:nvSpPr>
        <p:spPr>
          <a:xfrm>
            <a:off x="6299200" y="1880000"/>
            <a:ext cx="5360800" cy="660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2D3EE"/>
            </a:solidFill>
          </a:ln>
        </p:spPr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02" name="Num02"/>
          <p:cNvSpPr txBox="1"/>
          <p:nvPr/>
        </p:nvSpPr>
        <p:spPr>
          <a:xfrm>
            <a:off x="6426200" y="1930000"/>
            <a:ext cx="609600" cy="50000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22D3EE"/>
                </a:solidFill>
                <a:latin typeface="Aptos" panose="020B0004020202020204" pitchFamily="34" charset="0"/>
              </a:rPr>
              <a:t>02</a:t>
            </a:r>
          </a:p>
        </p:txBody>
      </p:sp>
      <p:sp>
        <p:nvSpPr>
          <p:cNvPr id="203" name="Text02"/>
          <p:cNvSpPr txBox="1"/>
          <p:nvPr/>
        </p:nvSpPr>
        <p:spPr>
          <a:xfrm>
            <a:off x="7162800" y="1950000"/>
            <a:ext cx="4420000" cy="56000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500" b="1">
                <a:solidFill>
                  <a:srgbClr val="F1F5F9"/>
                </a:solidFill>
                <a:latin typeface="Aptos" panose="020B0004020202020204" pitchFamily="34" charset="0"/>
              </a:rPr>
              <a:t>Kiến trúc hệ thống</a:t>
            </a:r>
          </a:p>
          <a:p>
            <a:r>
              <a:rPr lang="vi-VN" sz="1100">
                <a:solidFill>
                  <a:srgbClr val="94A3B8"/>
                </a:solidFill>
                <a:latin typeface="Aptos" panose="020B0004020202020204" pitchFamily="34" charset="0"/>
              </a:rPr>
              <a:t>Gateway + 3 nodes + global dedup</a:t>
            </a:r>
          </a:p>
        </p:txBody>
      </p:sp>
      <p:sp>
        <p:nvSpPr>
          <p:cNvPr id="301" name="Card03"/>
          <p:cNvSpPr/>
          <p:nvPr/>
        </p:nvSpPr>
        <p:spPr>
          <a:xfrm>
            <a:off x="533400" y="2634600"/>
            <a:ext cx="5360800" cy="660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02" name="Num03"/>
          <p:cNvSpPr txBox="1"/>
          <p:nvPr/>
        </p:nvSpPr>
        <p:spPr>
          <a:xfrm>
            <a:off x="660400" y="2684600"/>
            <a:ext cx="609600" cy="50000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F59E0B"/>
                </a:solidFill>
                <a:latin typeface="Aptos" panose="020B0004020202020204" pitchFamily="34" charset="0"/>
              </a:rPr>
              <a:t>03</a:t>
            </a:r>
          </a:p>
        </p:txBody>
      </p:sp>
      <p:sp>
        <p:nvSpPr>
          <p:cNvPr id="303" name="Text03"/>
          <p:cNvSpPr txBox="1"/>
          <p:nvPr/>
        </p:nvSpPr>
        <p:spPr>
          <a:xfrm>
            <a:off x="1397000" y="2704600"/>
            <a:ext cx="4420000" cy="56000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500" b="1">
                <a:solidFill>
                  <a:srgbClr val="F1F5F9"/>
                </a:solidFill>
                <a:latin typeface="Aptos" panose="020B0004020202020204" pitchFamily="34" charset="0"/>
              </a:rPr>
              <a:t>Lý thuyết Özsu &amp; Valduriez</a:t>
            </a:r>
          </a:p>
          <a:p>
            <a:r>
              <a:rPr lang="vi-VN" sz="1100">
                <a:solidFill>
                  <a:srgbClr val="94A3B8"/>
                </a:solidFill>
                <a:latin typeface="Aptos" panose="020B0004020202020204" pitchFamily="34" charset="0"/>
              </a:rPr>
              <a:t>Transparency, fragmentation, reliability</a:t>
            </a:r>
          </a:p>
        </p:txBody>
      </p:sp>
      <p:sp>
        <p:nvSpPr>
          <p:cNvPr id="401" name="Card04"/>
          <p:cNvSpPr/>
          <p:nvPr/>
        </p:nvSpPr>
        <p:spPr>
          <a:xfrm>
            <a:off x="6299200" y="2634600"/>
            <a:ext cx="5360800" cy="660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78BFA"/>
            </a:solidFill>
          </a:ln>
        </p:spPr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02" name="Num04"/>
          <p:cNvSpPr txBox="1"/>
          <p:nvPr/>
        </p:nvSpPr>
        <p:spPr>
          <a:xfrm>
            <a:off x="6426200" y="2684600"/>
            <a:ext cx="609600" cy="50000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A78BFA"/>
                </a:solidFill>
                <a:latin typeface="Aptos" panose="020B0004020202020204" pitchFamily="34" charset="0"/>
              </a:rPr>
              <a:t>04</a:t>
            </a:r>
          </a:p>
        </p:txBody>
      </p:sp>
      <p:sp>
        <p:nvSpPr>
          <p:cNvPr id="403" name="Text04"/>
          <p:cNvSpPr txBox="1"/>
          <p:nvPr/>
        </p:nvSpPr>
        <p:spPr>
          <a:xfrm>
            <a:off x="7162800" y="2704600"/>
            <a:ext cx="4420000" cy="56000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500" b="1">
                <a:solidFill>
                  <a:srgbClr val="F1F5F9"/>
                </a:solidFill>
                <a:latin typeface="Aptos" panose="020B0004020202020204" pitchFamily="34" charset="0"/>
              </a:rPr>
              <a:t>Cơ chế EOS</a:t>
            </a:r>
          </a:p>
          <a:p>
            <a:r>
              <a:rPr lang="vi-VN" sz="1100">
                <a:solidFill>
                  <a:srgbClr val="94A3B8"/>
                </a:solidFill>
                <a:latin typeface="Aptos" panose="020B0004020202020204" pitchFamily="34" charset="0"/>
              </a:rPr>
              <a:t>Idempotency key, WAL, recovery flow</a:t>
            </a:r>
          </a:p>
        </p:txBody>
      </p:sp>
      <p:sp>
        <p:nvSpPr>
          <p:cNvPr id="501" name="Card05"/>
          <p:cNvSpPr/>
          <p:nvPr/>
        </p:nvSpPr>
        <p:spPr>
          <a:xfrm>
            <a:off x="533400" y="3389200"/>
            <a:ext cx="5360800" cy="660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0A5FA"/>
            </a:solidFill>
          </a:ln>
        </p:spPr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02" name="Num05"/>
          <p:cNvSpPr txBox="1"/>
          <p:nvPr/>
        </p:nvSpPr>
        <p:spPr>
          <a:xfrm>
            <a:off x="660400" y="3439200"/>
            <a:ext cx="609600" cy="50000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60A5FA"/>
                </a:solidFill>
                <a:latin typeface="Aptos" panose="020B0004020202020204" pitchFamily="34" charset="0"/>
              </a:rPr>
              <a:t>05</a:t>
            </a:r>
          </a:p>
        </p:txBody>
      </p:sp>
      <p:sp>
        <p:nvSpPr>
          <p:cNvPr id="503" name="Text05"/>
          <p:cNvSpPr txBox="1"/>
          <p:nvPr/>
        </p:nvSpPr>
        <p:spPr>
          <a:xfrm>
            <a:off x="1397000" y="3459200"/>
            <a:ext cx="4420000" cy="56000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500" b="1">
                <a:solidFill>
                  <a:srgbClr val="F1F5F9"/>
                </a:solidFill>
                <a:latin typeface="Aptos" panose="020B0004020202020204" pitchFamily="34" charset="0"/>
              </a:rPr>
              <a:t>Benchmark Stream</a:t>
            </a:r>
          </a:p>
          <a:p>
            <a:r>
              <a:rPr lang="vi-VN" sz="1100">
                <a:solidFill>
                  <a:srgbClr val="94A3B8"/>
                </a:solidFill>
                <a:latin typeface="Aptos" panose="020B0004020202020204" pitchFamily="34" charset="0"/>
              </a:rPr>
              <a:t>TPS, latency, duplicate charges, window</a:t>
            </a:r>
          </a:p>
        </p:txBody>
      </p:sp>
      <p:sp>
        <p:nvSpPr>
          <p:cNvPr id="601" name="Card06"/>
          <p:cNvSpPr/>
          <p:nvPr/>
        </p:nvSpPr>
        <p:spPr>
          <a:xfrm>
            <a:off x="6299200" y="3389200"/>
            <a:ext cx="5360800" cy="660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F4444"/>
            </a:solidFill>
          </a:ln>
        </p:spPr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02" name="Num06"/>
          <p:cNvSpPr txBox="1"/>
          <p:nvPr/>
        </p:nvSpPr>
        <p:spPr>
          <a:xfrm>
            <a:off x="6426200" y="3439200"/>
            <a:ext cx="609600" cy="50000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EF4444"/>
                </a:solidFill>
                <a:latin typeface="Aptos" panose="020B0004020202020204" pitchFamily="34" charset="0"/>
              </a:rPr>
              <a:t>06</a:t>
            </a:r>
          </a:p>
        </p:txBody>
      </p:sp>
      <p:sp>
        <p:nvSpPr>
          <p:cNvPr id="603" name="Text06"/>
          <p:cNvSpPr txBox="1"/>
          <p:nvPr/>
        </p:nvSpPr>
        <p:spPr>
          <a:xfrm>
            <a:off x="7162800" y="3459200"/>
            <a:ext cx="4420000" cy="56000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500" b="1">
                <a:solidFill>
                  <a:srgbClr val="F1F5F9"/>
                </a:solidFill>
                <a:latin typeface="Aptos" panose="020B0004020202020204" pitchFamily="34" charset="0"/>
              </a:rPr>
              <a:t>Demo, Test &amp; Hướng mở rộng</a:t>
            </a:r>
          </a:p>
          <a:p>
            <a:r>
              <a:rPr lang="vi-VN" sz="1100">
                <a:solidFill>
                  <a:srgbClr val="94A3B8"/>
                </a:solidFill>
                <a:latin typeface="Aptos" panose="020B0004020202020204" pitchFamily="34" charset="0"/>
              </a:rPr>
              <a:t>Kiểm thử, hạn chế, hướng phát triển</a:t>
            </a:r>
          </a:p>
        </p:txBody>
      </p:sp>
    </p:spTree>
    <p:extLst>
      <p:ext uri="{BB962C8B-B14F-4D97-AF65-F5344CB8AC3E}">
        <p14:creationId xmlns:p14="http://schemas.microsoft.com/office/powerpoint/2010/main" val="27740816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41B105E-CE5D-1E23-5281-E63C6E5297C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25E1DA-C91B-8B57-58B7-EE4025151AA3}"/>
              </a:ext>
            </a:extLst>
          </p:cNvPr>
          <p:cNvSpPr txBox="1"/>
          <p:nvPr/>
        </p:nvSpPr>
        <p:spPr>
          <a:xfrm>
            <a:off x="533400" y="330200"/>
            <a:ext cx="2286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100" b="1">
                <a:solidFill>
                  <a:srgbClr val="10B981"/>
                </a:solidFill>
                <a:latin typeface="Aptos" panose="020B0004020202020204" pitchFamily="34" charset="0"/>
              </a:rPr>
              <a:t>01 / PROBLEM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16D01E-E378-56E7-AF24-0F13D667F223}"/>
              </a:ext>
            </a:extLst>
          </p:cNvPr>
          <p:cNvSpPr txBox="1"/>
          <p:nvPr/>
        </p:nvSpPr>
        <p:spPr>
          <a:xfrm>
            <a:off x="533400" y="660400"/>
            <a:ext cx="9906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3000" b="1">
                <a:solidFill>
                  <a:srgbClr val="F1F5F9"/>
                </a:solidFill>
                <a:latin typeface="Aptos" panose="020B0004020202020204" pitchFamily="34" charset="0"/>
              </a:rPr>
              <a:t>Vấn đề: duplicate payment trong hệ phân tán</a:t>
            </a:r>
            <a:endParaRPr lang="vi-VN" sz="3000" b="1">
              <a:solidFill>
                <a:srgbClr val="F1F5F9"/>
              </a:solidFill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438909-B7B8-E647-023A-A48D385B2C19}"/>
              </a:ext>
            </a:extLst>
          </p:cNvPr>
          <p:cNvSpPr txBox="1"/>
          <p:nvPr/>
        </p:nvSpPr>
        <p:spPr>
          <a:xfrm>
            <a:off x="558800" y="1270000"/>
            <a:ext cx="1041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400">
                <a:solidFill>
                  <a:srgbClr val="94A3B8"/>
                </a:solidFill>
                <a:latin typeface="Aptos" panose="020B0004020202020204" pitchFamily="34" charset="0"/>
              </a:rPr>
              <a:t>Một request có thể đến nhiều lần, đến muộn hoặc đi qua nhiều node.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2940931-DFAA-0444-2CAB-20873287643F}"/>
              </a:ext>
            </a:extLst>
          </p:cNvPr>
          <p:cNvSpPr/>
          <p:nvPr/>
        </p:nvSpPr>
        <p:spPr>
          <a:xfrm>
            <a:off x="533400" y="1600200"/>
            <a:ext cx="111252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E50C14D-F307-7616-3023-9095D6326C77}"/>
              </a:ext>
            </a:extLst>
          </p:cNvPr>
          <p:cNvSpPr/>
          <p:nvPr/>
        </p:nvSpPr>
        <p:spPr>
          <a:xfrm>
            <a:off x="812800" y="2057400"/>
            <a:ext cx="4953000" cy="2794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EF444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45ABF1-383A-A026-1EE0-D7655AAC2078}"/>
              </a:ext>
            </a:extLst>
          </p:cNvPr>
          <p:cNvSpPr txBox="1"/>
          <p:nvPr/>
        </p:nvSpPr>
        <p:spPr>
          <a:xfrm>
            <a:off x="1092200" y="2336800"/>
            <a:ext cx="4191000" cy="33855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200" b="1">
                <a:solidFill>
                  <a:srgbClr val="EF4444"/>
                </a:solidFill>
                <a:latin typeface="Aptos" panose="020B0004020202020204" pitchFamily="34" charset="0"/>
              </a:rPr>
              <a:t>At-Least-Once baseline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AE2CD34-D580-6338-B753-B4BBC1988145}"/>
              </a:ext>
            </a:extLst>
          </p:cNvPr>
          <p:cNvSpPr txBox="1"/>
          <p:nvPr/>
        </p:nvSpPr>
        <p:spPr>
          <a:xfrm>
            <a:off x="1143000" y="2921000"/>
            <a:ext cx="4191000" cy="130805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700">
                <a:solidFill>
                  <a:srgbClr val="F1F5F9"/>
                </a:solidFill>
                <a:latin typeface="Aptos" panose="020B0004020202020204" pitchFamily="34" charset="0"/>
              </a:rPr>
              <a:t>• Client timeout nhưng request đầu đã tới hệ thống
• Client retry cùng idempotency key
• Gateway có thể route retry sang node khác
• ALO xử lý duplicate thành transaction thật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C9459F7-7362-A15B-C721-8AFC8D2B411B}"/>
              </a:ext>
            </a:extLst>
          </p:cNvPr>
          <p:cNvSpPr/>
          <p:nvPr/>
        </p:nvSpPr>
        <p:spPr>
          <a:xfrm>
            <a:off x="6426200" y="2057400"/>
            <a:ext cx="4953000" cy="2794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76BFA4-7F2A-7A2D-7399-F3481BD1553A}"/>
              </a:ext>
            </a:extLst>
          </p:cNvPr>
          <p:cNvSpPr txBox="1"/>
          <p:nvPr/>
        </p:nvSpPr>
        <p:spPr>
          <a:xfrm>
            <a:off x="6705600" y="2336800"/>
            <a:ext cx="4191000" cy="33855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200" b="1">
                <a:solidFill>
                  <a:srgbClr val="10B981"/>
                </a:solidFill>
                <a:latin typeface="Aptos" panose="020B0004020202020204" pitchFamily="34" charset="0"/>
              </a:rPr>
              <a:t>Exactly-Once target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F6B169F-A73D-CACA-9A37-75341B7AAF4C}"/>
              </a:ext>
            </a:extLst>
          </p:cNvPr>
          <p:cNvSpPr txBox="1"/>
          <p:nvPr/>
        </p:nvSpPr>
        <p:spPr>
          <a:xfrm>
            <a:off x="6756400" y="2921000"/>
            <a:ext cx="4191000" cy="104644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700">
                <a:solidFill>
                  <a:srgbClr val="F1F5F9"/>
                </a:solidFill>
                <a:latin typeface="Aptos" panose="020B0004020202020204" pitchFamily="34" charset="0"/>
              </a:rPr>
              <a:t>• Mỗi idempotency key chỉ commit một lần
• Duplicate bị reject hoặc trả kết quả cũ
• Global dedup là điểm kiểm soát chung
• WAL bảo vệ recovery sau lỗi giữa chừng</a:t>
            </a:r>
          </a:p>
        </p:txBody>
      </p:sp>
    </p:spTree>
    <p:extLst>
      <p:ext uri="{BB962C8B-B14F-4D97-AF65-F5344CB8AC3E}">
        <p14:creationId xmlns:p14="http://schemas.microsoft.com/office/powerpoint/2010/main" val="31374148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7C56EBC-7625-7856-25E5-0D8EA903297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DC01CE-5636-6594-347B-8F4DD8E1ED05}"/>
              </a:ext>
            </a:extLst>
          </p:cNvPr>
          <p:cNvSpPr txBox="1"/>
          <p:nvPr/>
        </p:nvSpPr>
        <p:spPr>
          <a:xfrm>
            <a:off x="533400" y="330200"/>
            <a:ext cx="2286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100" b="1">
                <a:solidFill>
                  <a:srgbClr val="10B981"/>
                </a:solidFill>
                <a:latin typeface="Aptos" panose="020B0004020202020204" pitchFamily="34" charset="0"/>
              </a:rPr>
              <a:t>01 / GOALS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002DA6-39B4-7D87-8F37-6DD8151F3D91}"/>
              </a:ext>
            </a:extLst>
          </p:cNvPr>
          <p:cNvSpPr txBox="1"/>
          <p:nvPr/>
        </p:nvSpPr>
        <p:spPr>
          <a:xfrm>
            <a:off x="533400" y="660400"/>
            <a:ext cx="9906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F1F5F9"/>
                </a:solidFill>
                <a:latin typeface="Aptos" panose="020B0004020202020204" pitchFamily="34" charset="0"/>
              </a:rPr>
              <a:t>Mục tiêu và tiêu chí thành công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B018A7-9844-BBED-D00F-64DE7CB61FFD}"/>
              </a:ext>
            </a:extLst>
          </p:cNvPr>
          <p:cNvSpPr txBox="1"/>
          <p:nvPr/>
        </p:nvSpPr>
        <p:spPr>
          <a:xfrm>
            <a:off x="558800" y="1270000"/>
            <a:ext cx="1041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400">
                <a:solidFill>
                  <a:srgbClr val="94A3B8"/>
                </a:solidFill>
                <a:latin typeface="Aptos" panose="020B0004020202020204" pitchFamily="34" charset="0"/>
              </a:rPr>
              <a:t>Đề tài tập trung vào correctness trước, sau đó mới đo chi phí.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37370C-FF72-FBAB-2A2D-34B4C4A40CA6}"/>
              </a:ext>
            </a:extLst>
          </p:cNvPr>
          <p:cNvSpPr/>
          <p:nvPr/>
        </p:nvSpPr>
        <p:spPr>
          <a:xfrm>
            <a:off x="533400" y="1600200"/>
            <a:ext cx="111252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60E1A2E-CB22-2D92-C901-301E943456A2}"/>
              </a:ext>
            </a:extLst>
          </p:cNvPr>
          <p:cNvSpPr/>
          <p:nvPr/>
        </p:nvSpPr>
        <p:spPr>
          <a:xfrm>
            <a:off x="787400" y="2133600"/>
            <a:ext cx="2413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176975F-211F-6E34-170D-BEE863FFFD9E}"/>
              </a:ext>
            </a:extLst>
          </p:cNvPr>
          <p:cNvSpPr txBox="1"/>
          <p:nvPr/>
        </p:nvSpPr>
        <p:spPr>
          <a:xfrm>
            <a:off x="965200" y="2298700"/>
            <a:ext cx="2057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10B981"/>
                </a:solidFill>
                <a:latin typeface="Aptos" panose="020B0004020202020204" pitchFamily="34" charset="0"/>
              </a:rPr>
              <a:t>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FC9C23C-90BA-1C79-A936-A05943FD3FCF}"/>
              </a:ext>
            </a:extLst>
          </p:cNvPr>
          <p:cNvSpPr txBox="1"/>
          <p:nvPr/>
        </p:nvSpPr>
        <p:spPr>
          <a:xfrm>
            <a:off x="965200" y="2743200"/>
            <a:ext cx="2057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Duplicate charges trong EOS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A0A4BFC-552B-5FB2-C520-5C5F312B82FC}"/>
              </a:ext>
            </a:extLst>
          </p:cNvPr>
          <p:cNvSpPr/>
          <p:nvPr/>
        </p:nvSpPr>
        <p:spPr>
          <a:xfrm>
            <a:off x="3581400" y="2133600"/>
            <a:ext cx="2413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EEEDE2F-1DE2-937C-44ED-C4475FFCF3D4}"/>
              </a:ext>
            </a:extLst>
          </p:cNvPr>
          <p:cNvSpPr txBox="1"/>
          <p:nvPr/>
        </p:nvSpPr>
        <p:spPr>
          <a:xfrm>
            <a:off x="3759200" y="2298700"/>
            <a:ext cx="2057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10B981"/>
                </a:solidFill>
                <a:latin typeface="Aptos" panose="020B0004020202020204" pitchFamily="34" charset="0"/>
              </a:rPr>
              <a:t>50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20A9611-646A-64E7-CD71-594559016AA9}"/>
              </a:ext>
            </a:extLst>
          </p:cNvPr>
          <p:cNvSpPr txBox="1"/>
          <p:nvPr/>
        </p:nvSpPr>
        <p:spPr>
          <a:xfrm>
            <a:off x="3759200" y="2743200"/>
            <a:ext cx="2057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Duplicate bị EOS chặn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66309B7-B8B6-F913-DB3B-6AA4B8345552}"/>
              </a:ext>
            </a:extLst>
          </p:cNvPr>
          <p:cNvSpPr/>
          <p:nvPr/>
        </p:nvSpPr>
        <p:spPr>
          <a:xfrm>
            <a:off x="6375400" y="2133600"/>
            <a:ext cx="2413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254682C-C9D2-FC06-EB77-174171476E5A}"/>
              </a:ext>
            </a:extLst>
          </p:cNvPr>
          <p:cNvSpPr txBox="1"/>
          <p:nvPr/>
        </p:nvSpPr>
        <p:spPr>
          <a:xfrm>
            <a:off x="6553200" y="2298700"/>
            <a:ext cx="2057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22D3EE"/>
                </a:solidFill>
                <a:latin typeface="Aptos" panose="020B0004020202020204" pitchFamily="34" charset="0"/>
              </a:rPr>
              <a:t>110 / 110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6D2EAFB-8B5C-7E81-1CA0-1C74AF277227}"/>
              </a:ext>
            </a:extLst>
          </p:cNvPr>
          <p:cNvSpPr txBox="1"/>
          <p:nvPr/>
        </p:nvSpPr>
        <p:spPr>
          <a:xfrm>
            <a:off x="6553200" y="2743200"/>
            <a:ext cx="2057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WAL / Success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352A246-F8D1-D8B7-B12A-D765A35AC2CD}"/>
              </a:ext>
            </a:extLst>
          </p:cNvPr>
          <p:cNvSpPr/>
          <p:nvPr/>
        </p:nvSpPr>
        <p:spPr>
          <a:xfrm>
            <a:off x="9169400" y="2133600"/>
            <a:ext cx="2159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FBFFFE2-49FA-B953-CD49-C66BCB82543B}"/>
              </a:ext>
            </a:extLst>
          </p:cNvPr>
          <p:cNvSpPr txBox="1"/>
          <p:nvPr/>
        </p:nvSpPr>
        <p:spPr>
          <a:xfrm>
            <a:off x="9347200" y="2298700"/>
            <a:ext cx="1803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10B981"/>
                </a:solidFill>
                <a:latin typeface="Aptos" panose="020B0004020202020204" pitchFamily="34" charset="0"/>
              </a:rPr>
              <a:t>8 PASS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5045032-B94E-974E-CDBA-071AD56CD4E5}"/>
              </a:ext>
            </a:extLst>
          </p:cNvPr>
          <p:cNvSpPr txBox="1"/>
          <p:nvPr/>
        </p:nvSpPr>
        <p:spPr>
          <a:xfrm>
            <a:off x="9347200" y="2743200"/>
            <a:ext cx="1803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Backend tests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D77D215-5DEA-D012-A769-E0787401997F}"/>
              </a:ext>
            </a:extLst>
          </p:cNvPr>
          <p:cNvSpPr txBox="1"/>
          <p:nvPr/>
        </p:nvSpPr>
        <p:spPr>
          <a:xfrm>
            <a:off x="1143000" y="3708400"/>
            <a:ext cx="9906000" cy="116955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900">
                <a:solidFill>
                  <a:srgbClr val="F1F5F9"/>
                </a:solidFill>
                <a:latin typeface="Aptos" panose="020B0004020202020204" pitchFamily="34" charset="0"/>
              </a:rPr>
              <a:t>• Gateway che giấu topology node khỏi client.
• Global dedup store bảo đảm idempotency toàn hệ thống.
• Local WAL giúp chứng minh reliability và recovery.
• Benchmark đo TPS, avg/p50/p95/p99, WAL write latency và window metrics.</a:t>
            </a:r>
          </a:p>
        </p:txBody>
      </p:sp>
    </p:spTree>
    <p:extLst>
      <p:ext uri="{BB962C8B-B14F-4D97-AF65-F5344CB8AC3E}">
        <p14:creationId xmlns:p14="http://schemas.microsoft.com/office/powerpoint/2010/main" val="37241194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EFEF1DA-A805-C8A6-0DC7-39BA8443FA5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8AF2C2-E810-3121-60AB-66DF08261EB8}"/>
              </a:ext>
            </a:extLst>
          </p:cNvPr>
          <p:cNvSpPr txBox="1"/>
          <p:nvPr/>
        </p:nvSpPr>
        <p:spPr>
          <a:xfrm>
            <a:off x="533400" y="330200"/>
            <a:ext cx="2286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100" b="1">
                <a:solidFill>
                  <a:srgbClr val="10B981"/>
                </a:solidFill>
                <a:latin typeface="Aptos" panose="020B0004020202020204" pitchFamily="34" charset="0"/>
              </a:rPr>
              <a:t>02 / ARCHITECTURE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A34FE1-DA01-84B5-46F3-42FCF0120515}"/>
              </a:ext>
            </a:extLst>
          </p:cNvPr>
          <p:cNvSpPr txBox="1"/>
          <p:nvPr/>
        </p:nvSpPr>
        <p:spPr>
          <a:xfrm>
            <a:off x="533400" y="660400"/>
            <a:ext cx="9906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F1F5F9"/>
                </a:solidFill>
                <a:latin typeface="Aptos" panose="020B0004020202020204" pitchFamily="34" charset="0"/>
              </a:rPr>
              <a:t>Kiến trúc tổng quan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78F82E-BA66-BA7C-1A43-E4E7B60FC972}"/>
              </a:ext>
            </a:extLst>
          </p:cNvPr>
          <p:cNvSpPr txBox="1"/>
          <p:nvPr/>
        </p:nvSpPr>
        <p:spPr>
          <a:xfrm>
            <a:off x="558800" y="1270000"/>
            <a:ext cx="1041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400">
                <a:solidFill>
                  <a:srgbClr val="94A3B8"/>
                </a:solidFill>
                <a:latin typeface="Aptos" panose="020B0004020202020204" pitchFamily="34" charset="0"/>
              </a:rPr>
              <a:t>Gateway làm entry point, ba node xử lý có local state, global dedup dùng chung.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A6B5B30-01D6-D484-4972-400DD268AA0D}"/>
              </a:ext>
            </a:extLst>
          </p:cNvPr>
          <p:cNvSpPr/>
          <p:nvPr/>
        </p:nvSpPr>
        <p:spPr>
          <a:xfrm>
            <a:off x="533400" y="1600200"/>
            <a:ext cx="111252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2E13ABD-72E7-1F56-0530-ADDDAEB0263C}"/>
              </a:ext>
            </a:extLst>
          </p:cNvPr>
          <p:cNvSpPr/>
          <p:nvPr/>
        </p:nvSpPr>
        <p:spPr>
          <a:xfrm>
            <a:off x="4191000" y="1828800"/>
            <a:ext cx="3810000" cy="431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00ACD90-63D9-E501-1454-AF7114EEB772}"/>
              </a:ext>
            </a:extLst>
          </p:cNvPr>
          <p:cNvSpPr txBox="1"/>
          <p:nvPr/>
        </p:nvSpPr>
        <p:spPr>
          <a:xfrm>
            <a:off x="4318000" y="2006600"/>
            <a:ext cx="3556000" cy="2616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vi-VN" sz="1700" b="1">
                <a:solidFill>
                  <a:srgbClr val="F1F5F9"/>
                </a:solidFill>
                <a:latin typeface="Aptos" panose="020B0004020202020204" pitchFamily="34" charset="0"/>
              </a:rPr>
              <a:t>React Dashboard / API Client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DF852B2-6B2F-89E5-E4F3-0F53A109FE60}"/>
              </a:ext>
            </a:extLst>
          </p:cNvPr>
          <p:cNvSpPr/>
          <p:nvPr/>
        </p:nvSpPr>
        <p:spPr>
          <a:xfrm>
            <a:off x="4953000" y="2616200"/>
            <a:ext cx="2286000" cy="736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0A5F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487CD8-D3EF-7305-0F73-30800F8DDD66}"/>
              </a:ext>
            </a:extLst>
          </p:cNvPr>
          <p:cNvSpPr txBox="1"/>
          <p:nvPr/>
        </p:nvSpPr>
        <p:spPr>
          <a:xfrm>
            <a:off x="5080000" y="2794000"/>
            <a:ext cx="2032000" cy="52322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vi-VN" sz="1700" b="1">
                <a:solidFill>
                  <a:srgbClr val="F1F5F9"/>
                </a:solidFill>
                <a:latin typeface="Aptos" panose="020B0004020202020204" pitchFamily="34" charset="0"/>
              </a:rPr>
              <a:t>Gateway API
:8080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BD9DF4F-9AE6-36FC-043B-D424654AB6D9}"/>
              </a:ext>
            </a:extLst>
          </p:cNvPr>
          <p:cNvSpPr/>
          <p:nvPr/>
        </p:nvSpPr>
        <p:spPr>
          <a:xfrm>
            <a:off x="1016000" y="4013200"/>
            <a:ext cx="2413000" cy="889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2CEB321-052C-32BD-A5BA-C8C97BA51F53}"/>
              </a:ext>
            </a:extLst>
          </p:cNvPr>
          <p:cNvSpPr txBox="1"/>
          <p:nvPr/>
        </p:nvSpPr>
        <p:spPr>
          <a:xfrm>
            <a:off x="1143000" y="4191000"/>
            <a:ext cx="2159000" cy="52322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pt-BR" sz="1700" b="1">
                <a:solidFill>
                  <a:srgbClr val="F1F5F9"/>
                </a:solidFill>
                <a:latin typeface="Aptos" panose="020B0004020202020204" pitchFamily="34" charset="0"/>
              </a:rPr>
              <a:t>NODE_A :8081
node_a H2</a:t>
            </a:r>
            <a:endParaRPr lang="vi-VN" sz="1700" b="1">
              <a:solidFill>
                <a:srgbClr val="F1F5F9"/>
              </a:solidFill>
              <a:latin typeface="Aptos" panose="020B000402020202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8F38ADE-BCA2-8B75-3421-9DAA551B0F5D}"/>
              </a:ext>
            </a:extLst>
          </p:cNvPr>
          <p:cNvSpPr/>
          <p:nvPr/>
        </p:nvSpPr>
        <p:spPr>
          <a:xfrm>
            <a:off x="4889500" y="4013200"/>
            <a:ext cx="2413000" cy="889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1A56C4-8ECC-D1E0-6C23-892F6718CF5C}"/>
              </a:ext>
            </a:extLst>
          </p:cNvPr>
          <p:cNvSpPr txBox="1"/>
          <p:nvPr/>
        </p:nvSpPr>
        <p:spPr>
          <a:xfrm>
            <a:off x="5016500" y="4191000"/>
            <a:ext cx="2159000" cy="52322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pt-BR" sz="1700" b="1">
                <a:solidFill>
                  <a:srgbClr val="F1F5F9"/>
                </a:solidFill>
                <a:latin typeface="Aptos" panose="020B0004020202020204" pitchFamily="34" charset="0"/>
              </a:rPr>
              <a:t>NODE_B :8082
node_b H2</a:t>
            </a:r>
            <a:endParaRPr lang="vi-VN" sz="1700" b="1">
              <a:solidFill>
                <a:srgbClr val="F1F5F9"/>
              </a:solidFill>
              <a:latin typeface="Aptos" panose="020B0004020202020204" pitchFamily="34" charset="0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E6C09EE-B252-E455-71D5-52EE79E922D3}"/>
              </a:ext>
            </a:extLst>
          </p:cNvPr>
          <p:cNvSpPr/>
          <p:nvPr/>
        </p:nvSpPr>
        <p:spPr>
          <a:xfrm>
            <a:off x="8763000" y="4013200"/>
            <a:ext cx="2413000" cy="889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0BE8DD3-6015-690C-BFD6-EFE08AEEED0A}"/>
              </a:ext>
            </a:extLst>
          </p:cNvPr>
          <p:cNvSpPr txBox="1"/>
          <p:nvPr/>
        </p:nvSpPr>
        <p:spPr>
          <a:xfrm>
            <a:off x="8890000" y="4191000"/>
            <a:ext cx="2159000" cy="52322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pt-BR" sz="1700" b="1">
                <a:solidFill>
                  <a:srgbClr val="F1F5F9"/>
                </a:solidFill>
                <a:latin typeface="Aptos" panose="020B0004020202020204" pitchFamily="34" charset="0"/>
              </a:rPr>
              <a:t>NODE_C :8083
node_c H2</a:t>
            </a:r>
            <a:endParaRPr lang="vi-VN" sz="1700" b="1">
              <a:solidFill>
                <a:srgbClr val="F1F5F9"/>
              </a:solidFill>
              <a:latin typeface="Aptos" panose="020B0004020202020204" pitchFamily="34" charset="0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8A8B9DA-2B6F-A1E1-1911-22FE36EB661F}"/>
              </a:ext>
            </a:extLst>
          </p:cNvPr>
          <p:cNvSpPr/>
          <p:nvPr/>
        </p:nvSpPr>
        <p:spPr>
          <a:xfrm>
            <a:off x="3810000" y="5308600"/>
            <a:ext cx="4572000" cy="711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422FBA1-B0AE-2614-FFB3-E3E4561781A9}"/>
              </a:ext>
            </a:extLst>
          </p:cNvPr>
          <p:cNvSpPr txBox="1"/>
          <p:nvPr/>
        </p:nvSpPr>
        <p:spPr>
          <a:xfrm>
            <a:off x="3937000" y="5486400"/>
            <a:ext cx="4318000" cy="52322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sz="1700" b="1">
                <a:solidFill>
                  <a:srgbClr val="F1F5F9"/>
                </a:solidFill>
                <a:latin typeface="Aptos" panose="020B0004020202020204" pitchFamily="34" charset="0"/>
              </a:rPr>
              <a:t>Global Dedup H2
idempotency_key -&gt; result</a:t>
            </a:r>
            <a:endParaRPr lang="vi-VN" sz="1700" b="1">
              <a:solidFill>
                <a:srgbClr val="F1F5F9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12981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95443C2-AF8B-CE72-C273-5B6C3910DD3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184A34-115A-13B1-0EE1-D0E9F60D69A5}"/>
              </a:ext>
            </a:extLst>
          </p:cNvPr>
          <p:cNvSpPr txBox="1"/>
          <p:nvPr/>
        </p:nvSpPr>
        <p:spPr>
          <a:xfrm>
            <a:off x="533400" y="330200"/>
            <a:ext cx="2286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100" b="1">
                <a:solidFill>
                  <a:srgbClr val="10B981"/>
                </a:solidFill>
                <a:latin typeface="Aptos" panose="020B0004020202020204" pitchFamily="34" charset="0"/>
              </a:rPr>
              <a:t>02 / STATE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4BC7CC-26F1-0C9D-E24E-D6339162605B}"/>
              </a:ext>
            </a:extLst>
          </p:cNvPr>
          <p:cNvSpPr txBox="1"/>
          <p:nvPr/>
        </p:nvSpPr>
        <p:spPr>
          <a:xfrm>
            <a:off x="533400" y="660400"/>
            <a:ext cx="9906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F1F5F9"/>
                </a:solidFill>
                <a:latin typeface="Aptos" panose="020B0004020202020204" pitchFamily="34" charset="0"/>
              </a:rPr>
              <a:t>Dataset, state và phân mảnh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C9015E-7442-7493-8185-B5A986D205D6}"/>
              </a:ext>
            </a:extLst>
          </p:cNvPr>
          <p:cNvSpPr txBox="1"/>
          <p:nvPr/>
        </p:nvSpPr>
        <p:spPr>
          <a:xfrm>
            <a:off x="558800" y="1270000"/>
            <a:ext cx="1041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400">
                <a:solidFill>
                  <a:srgbClr val="94A3B8"/>
                </a:solidFill>
                <a:latin typeface="Aptos" panose="020B0004020202020204" pitchFamily="34" charset="0"/>
              </a:rPr>
              <a:t>Dữ liệu demo được sinh có kiểm soát để đo duplicate và event-time disorder.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BACDAA5-5051-388A-72FA-E340C665EF30}"/>
              </a:ext>
            </a:extLst>
          </p:cNvPr>
          <p:cNvSpPr/>
          <p:nvPr/>
        </p:nvSpPr>
        <p:spPr>
          <a:xfrm>
            <a:off x="533400" y="1600200"/>
            <a:ext cx="111252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C7F5EFD-A5A3-547C-F51F-25788D34EAB4}"/>
              </a:ext>
            </a:extLst>
          </p:cNvPr>
          <p:cNvSpPr/>
          <p:nvPr/>
        </p:nvSpPr>
        <p:spPr>
          <a:xfrm>
            <a:off x="889000" y="2006600"/>
            <a:ext cx="4826000" cy="3175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88DE92-A550-05AA-E063-127AAA922993}"/>
              </a:ext>
            </a:extLst>
          </p:cNvPr>
          <p:cNvSpPr txBox="1"/>
          <p:nvPr/>
        </p:nvSpPr>
        <p:spPr>
          <a:xfrm>
            <a:off x="1219200" y="2311400"/>
            <a:ext cx="3810000" cy="33855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200" b="1">
                <a:solidFill>
                  <a:srgbClr val="22D3EE"/>
                </a:solidFill>
                <a:latin typeface="Aptos" panose="020B0004020202020204" pitchFamily="34" charset="0"/>
              </a:rPr>
              <a:t>Local state theo node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A080C66-D4C1-CB66-8362-CEBFBEDAD1BD}"/>
              </a:ext>
            </a:extLst>
          </p:cNvPr>
          <p:cNvSpPr txBox="1"/>
          <p:nvPr/>
        </p:nvSpPr>
        <p:spPr>
          <a:xfrm>
            <a:off x="1295400" y="2921000"/>
            <a:ext cx="3810000" cy="183127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700">
                <a:solidFill>
                  <a:srgbClr val="F1F5F9"/>
                </a:solidFill>
                <a:latin typeface="Aptos" panose="020B0004020202020204" pitchFamily="34" charset="0"/>
              </a:rPr>
              <a:t>• account
• payment_request
• payment_transaction
• wal_log_entry
• stream_window
• processor_checkpoint
• processing_node</a:t>
            </a:r>
            <a:endParaRPr lang="vi-VN" sz="1700">
              <a:solidFill>
                <a:srgbClr val="F1F5F9"/>
              </a:solidFill>
              <a:latin typeface="Aptos" panose="020B0004020202020204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BA47DC5-166F-61C1-6BDD-575805E78CD4}"/>
              </a:ext>
            </a:extLst>
          </p:cNvPr>
          <p:cNvSpPr/>
          <p:nvPr/>
        </p:nvSpPr>
        <p:spPr>
          <a:xfrm>
            <a:off x="6477000" y="2006600"/>
            <a:ext cx="4826000" cy="3175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D1C50B-D16C-E332-4324-4BABF7CC8AB7}"/>
              </a:ext>
            </a:extLst>
          </p:cNvPr>
          <p:cNvSpPr txBox="1"/>
          <p:nvPr/>
        </p:nvSpPr>
        <p:spPr>
          <a:xfrm>
            <a:off x="6807200" y="2311400"/>
            <a:ext cx="3810000" cy="33855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200" b="1">
                <a:solidFill>
                  <a:srgbClr val="F59E0B"/>
                </a:solidFill>
                <a:latin typeface="Aptos" panose="020B0004020202020204" pitchFamily="34" charset="0"/>
              </a:rPr>
              <a:t>Global coordination state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241828F-989C-0EA5-0631-283D2516952C}"/>
              </a:ext>
            </a:extLst>
          </p:cNvPr>
          <p:cNvSpPr txBox="1"/>
          <p:nvPr/>
        </p:nvSpPr>
        <p:spPr>
          <a:xfrm>
            <a:off x="6883400" y="2921000"/>
            <a:ext cx="3810000" cy="156966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700">
                <a:solidFill>
                  <a:srgbClr val="F1F5F9"/>
                </a:solidFill>
                <a:latin typeface="Aptos" panose="020B0004020202020204" pitchFamily="34" charset="0"/>
              </a:rPr>
              <a:t>• global_deduplication_record
• Primary key: idempotency_key
• originalRequest + nodeId + eventTimeMs
• resultStatus/resultData để trả kết quả nhất quán</a:t>
            </a:r>
          </a:p>
        </p:txBody>
      </p:sp>
    </p:spTree>
    <p:extLst>
      <p:ext uri="{BB962C8B-B14F-4D97-AF65-F5344CB8AC3E}">
        <p14:creationId xmlns:p14="http://schemas.microsoft.com/office/powerpoint/2010/main" val="1023013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1904401-307A-5BBA-1500-74F886BB63B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0270D9-0F97-CDE0-C999-A5FE4B5F8880}"/>
              </a:ext>
            </a:extLst>
          </p:cNvPr>
          <p:cNvSpPr txBox="1"/>
          <p:nvPr/>
        </p:nvSpPr>
        <p:spPr>
          <a:xfrm>
            <a:off x="533400" y="330200"/>
            <a:ext cx="2286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100" b="1">
                <a:solidFill>
                  <a:srgbClr val="10B981"/>
                </a:solidFill>
                <a:latin typeface="Aptos" panose="020B0004020202020204" pitchFamily="34" charset="0"/>
              </a:rPr>
              <a:t>03 / THEORY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97FF63-2037-3D49-106F-6C617B674BAB}"/>
              </a:ext>
            </a:extLst>
          </p:cNvPr>
          <p:cNvSpPr txBox="1"/>
          <p:nvPr/>
        </p:nvSpPr>
        <p:spPr>
          <a:xfrm>
            <a:off x="533400" y="660400"/>
            <a:ext cx="9906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F1F5F9"/>
                </a:solidFill>
                <a:latin typeface="Aptos" panose="020B0004020202020204" pitchFamily="34" charset="0"/>
              </a:rPr>
              <a:t>Cơ sở lý thuyết Özsu &amp; Valduriez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E4414E-0D32-8FF4-402F-DB2F7FC7588D}"/>
              </a:ext>
            </a:extLst>
          </p:cNvPr>
          <p:cNvSpPr txBox="1"/>
          <p:nvPr/>
        </p:nvSpPr>
        <p:spPr>
          <a:xfrm>
            <a:off x="558800" y="1270000"/>
            <a:ext cx="1041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400">
                <a:solidFill>
                  <a:srgbClr val="94A3B8"/>
                </a:solidFill>
                <a:latin typeface="Aptos" panose="020B0004020202020204" pitchFamily="34" charset="0"/>
              </a:rPr>
              <a:t>Các quyết định thiết kế đều gắn với khái niệm CSDL phân tán.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615CE0A-DDA5-CE42-2863-6E4040849736}"/>
              </a:ext>
            </a:extLst>
          </p:cNvPr>
          <p:cNvSpPr/>
          <p:nvPr/>
        </p:nvSpPr>
        <p:spPr>
          <a:xfrm>
            <a:off x="533400" y="1600200"/>
            <a:ext cx="111252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4C79BA5-EEB2-8B66-0EA1-9C84027AA863}"/>
              </a:ext>
            </a:extLst>
          </p:cNvPr>
          <p:cNvSpPr/>
          <p:nvPr/>
        </p:nvSpPr>
        <p:spPr>
          <a:xfrm>
            <a:off x="787400" y="2006600"/>
            <a:ext cx="2413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119E59-8F97-9FD9-64FC-AA96D70F28A1}"/>
              </a:ext>
            </a:extLst>
          </p:cNvPr>
          <p:cNvSpPr txBox="1"/>
          <p:nvPr/>
        </p:nvSpPr>
        <p:spPr>
          <a:xfrm>
            <a:off x="965200" y="2171700"/>
            <a:ext cx="2057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60A5FA"/>
                </a:solidFill>
                <a:latin typeface="Aptos" panose="020B0004020202020204" pitchFamily="34" charset="0"/>
              </a:rPr>
              <a:t>Gateway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6C0DA4-8CDD-9F99-EA80-1BD163B8C253}"/>
              </a:ext>
            </a:extLst>
          </p:cNvPr>
          <p:cNvSpPr txBox="1"/>
          <p:nvPr/>
        </p:nvSpPr>
        <p:spPr>
          <a:xfrm>
            <a:off x="965200" y="2616200"/>
            <a:ext cx="2057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Transparency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1C77E2E-6D7A-E393-6996-FD5299C2C991}"/>
              </a:ext>
            </a:extLst>
          </p:cNvPr>
          <p:cNvSpPr/>
          <p:nvPr/>
        </p:nvSpPr>
        <p:spPr>
          <a:xfrm>
            <a:off x="3581400" y="2006600"/>
            <a:ext cx="2413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6CC114-B555-1388-079E-CC19A973C82A}"/>
              </a:ext>
            </a:extLst>
          </p:cNvPr>
          <p:cNvSpPr txBox="1"/>
          <p:nvPr/>
        </p:nvSpPr>
        <p:spPr>
          <a:xfrm>
            <a:off x="3759200" y="2171700"/>
            <a:ext cx="2057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22D3EE"/>
                </a:solidFill>
                <a:latin typeface="Aptos" panose="020B0004020202020204" pitchFamily="34" charset="0"/>
              </a:rPr>
              <a:t>Node state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8D479D2-1ED5-C990-6CB5-4AE3B30EF4F4}"/>
              </a:ext>
            </a:extLst>
          </p:cNvPr>
          <p:cNvSpPr txBox="1"/>
          <p:nvPr/>
        </p:nvSpPr>
        <p:spPr>
          <a:xfrm>
            <a:off x="3759200" y="2616200"/>
            <a:ext cx="2057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Fragmentation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1177ACE-6670-D8B2-E590-7AC676BAE1EB}"/>
              </a:ext>
            </a:extLst>
          </p:cNvPr>
          <p:cNvSpPr/>
          <p:nvPr/>
        </p:nvSpPr>
        <p:spPr>
          <a:xfrm>
            <a:off x="6375400" y="2006600"/>
            <a:ext cx="2413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D6D8829-5183-0B03-E81A-0C1AFC2A5833}"/>
              </a:ext>
            </a:extLst>
          </p:cNvPr>
          <p:cNvSpPr txBox="1"/>
          <p:nvPr/>
        </p:nvSpPr>
        <p:spPr>
          <a:xfrm>
            <a:off x="6553200" y="2171700"/>
            <a:ext cx="2057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900" b="1">
                <a:solidFill>
                  <a:srgbClr val="F59E0B"/>
                </a:solidFill>
                <a:latin typeface="Aptos" panose="020B0004020202020204" pitchFamily="34" charset="0"/>
              </a:rPr>
              <a:t>Global dedup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64FABF7-8E1E-5218-768A-5349FBDFF6EA}"/>
              </a:ext>
            </a:extLst>
          </p:cNvPr>
          <p:cNvSpPr txBox="1"/>
          <p:nvPr/>
        </p:nvSpPr>
        <p:spPr>
          <a:xfrm>
            <a:off x="6553200" y="2616200"/>
            <a:ext cx="2057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Data control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45BB1FFF-96FF-1DA6-22BC-730E3E7BF826}"/>
              </a:ext>
            </a:extLst>
          </p:cNvPr>
          <p:cNvSpPr/>
          <p:nvPr/>
        </p:nvSpPr>
        <p:spPr>
          <a:xfrm>
            <a:off x="9169400" y="2006600"/>
            <a:ext cx="2159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01E5603-5A10-5822-6214-E9891E3289AC}"/>
              </a:ext>
            </a:extLst>
          </p:cNvPr>
          <p:cNvSpPr txBox="1"/>
          <p:nvPr/>
        </p:nvSpPr>
        <p:spPr>
          <a:xfrm>
            <a:off x="9347200" y="2171700"/>
            <a:ext cx="1803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10B981"/>
                </a:solidFill>
                <a:latin typeface="Aptos" panose="020B0004020202020204" pitchFamily="34" charset="0"/>
              </a:rPr>
              <a:t>WAL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440AE3A-7642-A688-BA4C-3A82A7F9EE83}"/>
              </a:ext>
            </a:extLst>
          </p:cNvPr>
          <p:cNvSpPr txBox="1"/>
          <p:nvPr/>
        </p:nvSpPr>
        <p:spPr>
          <a:xfrm>
            <a:off x="9347200" y="2616200"/>
            <a:ext cx="1803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Reliability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8C739E8-3A1A-5AAF-D198-46F7AE0FB29D}"/>
              </a:ext>
            </a:extLst>
          </p:cNvPr>
          <p:cNvSpPr txBox="1"/>
          <p:nvPr/>
        </p:nvSpPr>
        <p:spPr>
          <a:xfrm>
            <a:off x="1041400" y="3606800"/>
            <a:ext cx="10414000" cy="110799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>
                <a:solidFill>
                  <a:srgbClr val="F1F5F9"/>
                </a:solidFill>
                <a:latin typeface="Aptos" panose="020B0004020202020204" pitchFamily="34" charset="0"/>
              </a:rPr>
              <a:t>• Distribution/network transparency: client không cần biết request xử lý ở site nào.
• Horizontal fragmentation: mỗi node giữ request, WAL, transaction, window riêng.
• Consistency control: idempotency key phải được kiểm soát toàn cục.
• Recovery: log giúp đưa hệ thống về trạng thái nhất quán sau crash.</a:t>
            </a:r>
          </a:p>
        </p:txBody>
      </p:sp>
    </p:spTree>
    <p:extLst>
      <p:ext uri="{BB962C8B-B14F-4D97-AF65-F5344CB8AC3E}">
        <p14:creationId xmlns:p14="http://schemas.microsoft.com/office/powerpoint/2010/main" val="12240248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61AEB2E-7ED2-5EF3-BBB4-8CC8343AB76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D34CF6-2A2E-8352-1944-816E99C3D9B9}"/>
              </a:ext>
            </a:extLst>
          </p:cNvPr>
          <p:cNvSpPr txBox="1"/>
          <p:nvPr/>
        </p:nvSpPr>
        <p:spPr>
          <a:xfrm>
            <a:off x="533400" y="330200"/>
            <a:ext cx="2286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100" b="1">
                <a:solidFill>
                  <a:srgbClr val="10B981"/>
                </a:solidFill>
                <a:latin typeface="Aptos" panose="020B0004020202020204" pitchFamily="34" charset="0"/>
              </a:rPr>
              <a:t>03 / COST MODEL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4E20731-746B-A05B-7EDE-30EA696766CD}"/>
              </a:ext>
            </a:extLst>
          </p:cNvPr>
          <p:cNvSpPr txBox="1"/>
          <p:nvPr/>
        </p:nvSpPr>
        <p:spPr>
          <a:xfrm>
            <a:off x="533400" y="660400"/>
            <a:ext cx="9906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F1F5F9"/>
                </a:solidFill>
                <a:latin typeface="Aptos" panose="020B0004020202020204" pitchFamily="34" charset="0"/>
              </a:rPr>
              <a:t>Mô hình chi phí phân tán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85B819-D19D-7C33-F3D4-787ECEA1E09E}"/>
              </a:ext>
            </a:extLst>
          </p:cNvPr>
          <p:cNvSpPr txBox="1"/>
          <p:nvPr/>
        </p:nvSpPr>
        <p:spPr>
          <a:xfrm>
            <a:off x="558800" y="1270000"/>
            <a:ext cx="1041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400">
                <a:solidFill>
                  <a:srgbClr val="94A3B8"/>
                </a:solidFill>
                <a:latin typeface="Aptos" panose="020B0004020202020204" pitchFamily="34" charset="0"/>
              </a:rPr>
              <a:t>EOS có thêm coordination và I/O nhưng loại bỏ chi phí nghiệp vụ do duplicate charge.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3D48142-8876-1C49-FD6F-FA7F120436F3}"/>
              </a:ext>
            </a:extLst>
          </p:cNvPr>
          <p:cNvSpPr/>
          <p:nvPr/>
        </p:nvSpPr>
        <p:spPr>
          <a:xfrm>
            <a:off x="533400" y="1600200"/>
            <a:ext cx="111252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73B0946-F0CB-5759-7F32-96C1B21B2FB4}"/>
              </a:ext>
            </a:extLst>
          </p:cNvPr>
          <p:cNvSpPr/>
          <p:nvPr/>
        </p:nvSpPr>
        <p:spPr>
          <a:xfrm>
            <a:off x="889000" y="2032000"/>
            <a:ext cx="10414000" cy="914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18C7F3-56F4-58CB-2CD5-36C7EA1DB84A}"/>
              </a:ext>
            </a:extLst>
          </p:cNvPr>
          <p:cNvSpPr txBox="1"/>
          <p:nvPr/>
        </p:nvSpPr>
        <p:spPr>
          <a:xfrm>
            <a:off x="1219200" y="2336800"/>
            <a:ext cx="9652000" cy="55399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b="1">
                <a:solidFill>
                  <a:srgbClr val="F1F5F9"/>
                </a:solidFill>
                <a:latin typeface="Aptos" panose="020B0004020202020204" pitchFamily="34" charset="0"/>
              </a:rPr>
              <a:t>Total_Time = T_CPU * #instructions + T_IO * #disk_IOs + T_MSG * #messages + T_TR * #bytes_transferred</a:t>
            </a:r>
            <a:endParaRPr lang="vi-VN" b="1">
              <a:solidFill>
                <a:srgbClr val="F1F5F9"/>
              </a:solidFill>
              <a:latin typeface="Aptos" panose="020B0004020202020204" pitchFamily="34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19DB041-B2FC-53EA-759D-D96DF2517D83}"/>
              </a:ext>
            </a:extLst>
          </p:cNvPr>
          <p:cNvSpPr/>
          <p:nvPr/>
        </p:nvSpPr>
        <p:spPr>
          <a:xfrm>
            <a:off x="1092200" y="3530600"/>
            <a:ext cx="4572000" cy="1498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BE2C913-B0DC-7963-D106-D85429FAD214}"/>
              </a:ext>
            </a:extLst>
          </p:cNvPr>
          <p:cNvSpPr txBox="1"/>
          <p:nvPr/>
        </p:nvSpPr>
        <p:spPr>
          <a:xfrm>
            <a:off x="1397000" y="3810000"/>
            <a:ext cx="3810000" cy="3077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2000" b="1">
                <a:solidFill>
                  <a:srgbClr val="10B981"/>
                </a:solidFill>
                <a:latin typeface="Aptos" panose="020B0004020202020204" pitchFamily="34" charset="0"/>
              </a:rPr>
              <a:t>EOS overhead có chủ ý</a:t>
            </a:r>
            <a:endParaRPr lang="vi-VN" sz="2000" b="1">
              <a:solidFill>
                <a:srgbClr val="10B981"/>
              </a:solidFill>
              <a:latin typeface="Aptos" panose="020B00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96D31DE-6FFE-22CE-E423-D90759E1D39B}"/>
              </a:ext>
            </a:extLst>
          </p:cNvPr>
          <p:cNvSpPr txBox="1"/>
          <p:nvPr/>
        </p:nvSpPr>
        <p:spPr>
          <a:xfrm>
            <a:off x="1473200" y="4292600"/>
            <a:ext cx="3619500" cy="73866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600">
                <a:solidFill>
                  <a:srgbClr val="F1F5F9"/>
                </a:solidFill>
                <a:latin typeface="Aptos" panose="020B0004020202020204" pitchFamily="34" charset="0"/>
              </a:rPr>
              <a:t>• global_dedup lookup/claim
• WAL write trước commit
• tail latency cao hơn ALO</a:t>
            </a:r>
            <a:endParaRPr lang="vi-VN" sz="1600">
              <a:solidFill>
                <a:srgbClr val="F1F5F9"/>
              </a:solidFill>
              <a:latin typeface="Aptos" panose="020B0004020202020204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37CB17A-B80F-CDB0-3633-033C12AFB53F}"/>
              </a:ext>
            </a:extLst>
          </p:cNvPr>
          <p:cNvSpPr/>
          <p:nvPr/>
        </p:nvSpPr>
        <p:spPr>
          <a:xfrm>
            <a:off x="6527800" y="3530600"/>
            <a:ext cx="4572000" cy="1498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EF444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476FBCC-9C51-316D-3773-A18A4DE8A166}"/>
              </a:ext>
            </a:extLst>
          </p:cNvPr>
          <p:cNvSpPr txBox="1"/>
          <p:nvPr/>
        </p:nvSpPr>
        <p:spPr>
          <a:xfrm>
            <a:off x="6832600" y="3810000"/>
            <a:ext cx="3810000" cy="3077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000" b="1">
                <a:solidFill>
                  <a:srgbClr val="EF4444"/>
                </a:solidFill>
                <a:latin typeface="Aptos" panose="020B0004020202020204" pitchFamily="34" charset="0"/>
              </a:rPr>
              <a:t>ALO risk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D0B61D4-B3D7-8871-0F13-7080C75B29E4}"/>
              </a:ext>
            </a:extLst>
          </p:cNvPr>
          <p:cNvSpPr txBox="1"/>
          <p:nvPr/>
        </p:nvSpPr>
        <p:spPr>
          <a:xfrm>
            <a:off x="6908800" y="4292600"/>
            <a:ext cx="3619500" cy="98488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600">
                <a:solidFill>
                  <a:srgbClr val="F1F5F9"/>
                </a:solidFill>
                <a:latin typeface="Aptos" panose="020B0004020202020204" pitchFamily="34" charset="0"/>
              </a:rPr>
              <a:t>• ít bước hơn nên nhanh hơn
• không chặn duplicate
• duplicate request thành transaction thật</a:t>
            </a:r>
          </a:p>
        </p:txBody>
      </p:sp>
    </p:spTree>
    <p:extLst>
      <p:ext uri="{BB962C8B-B14F-4D97-AF65-F5344CB8AC3E}">
        <p14:creationId xmlns:p14="http://schemas.microsoft.com/office/powerpoint/2010/main" val="34906359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B296BFC-BA1D-2DCD-510A-1C0975FEAA6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74DCEE-C824-73C7-6CE6-1B44490ADFB8}"/>
              </a:ext>
            </a:extLst>
          </p:cNvPr>
          <p:cNvSpPr txBox="1"/>
          <p:nvPr/>
        </p:nvSpPr>
        <p:spPr>
          <a:xfrm>
            <a:off x="533400" y="330200"/>
            <a:ext cx="2286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100" b="1">
                <a:solidFill>
                  <a:srgbClr val="10B981"/>
                </a:solidFill>
                <a:latin typeface="Aptos" panose="020B0004020202020204" pitchFamily="34" charset="0"/>
              </a:rPr>
              <a:t>04 / EOS FLOW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827A72-4085-9D9B-567C-E9413DB614F3}"/>
              </a:ext>
            </a:extLst>
          </p:cNvPr>
          <p:cNvSpPr txBox="1"/>
          <p:nvPr/>
        </p:nvSpPr>
        <p:spPr>
          <a:xfrm>
            <a:off x="533400" y="660400"/>
            <a:ext cx="9906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F1F5F9"/>
                </a:solidFill>
                <a:latin typeface="Aptos" panose="020B0004020202020204" pitchFamily="34" charset="0"/>
              </a:rPr>
              <a:t>Luồng xử lý payment ở chế độ EOS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92E1BC-BE33-B81A-16EC-488E8D4068D7}"/>
              </a:ext>
            </a:extLst>
          </p:cNvPr>
          <p:cNvSpPr txBox="1"/>
          <p:nvPr/>
        </p:nvSpPr>
        <p:spPr>
          <a:xfrm>
            <a:off x="558800" y="1270000"/>
            <a:ext cx="1041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400">
                <a:solidFill>
                  <a:srgbClr val="94A3B8"/>
                </a:solidFill>
                <a:latin typeface="Aptos" panose="020B0004020202020204" pitchFamily="34" charset="0"/>
              </a:rPr>
              <a:t>Claim key trước, ghi WAL trước khi cập nhật balance.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F2C880-F7D0-3BD6-D49E-FCD8E2F70152}"/>
              </a:ext>
            </a:extLst>
          </p:cNvPr>
          <p:cNvSpPr/>
          <p:nvPr/>
        </p:nvSpPr>
        <p:spPr>
          <a:xfrm>
            <a:off x="533400" y="1600200"/>
            <a:ext cx="111252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5866917-4145-0AB0-363E-45E69567D6A4}"/>
              </a:ext>
            </a:extLst>
          </p:cNvPr>
          <p:cNvSpPr/>
          <p:nvPr/>
        </p:nvSpPr>
        <p:spPr>
          <a:xfrm>
            <a:off x="787400" y="2463800"/>
            <a:ext cx="1651000" cy="1193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002EA41-3B2B-7F9A-5F17-BF5B57B7EAFB}"/>
              </a:ext>
            </a:extLst>
          </p:cNvPr>
          <p:cNvSpPr txBox="1"/>
          <p:nvPr/>
        </p:nvSpPr>
        <p:spPr>
          <a:xfrm>
            <a:off x="914400" y="2717800"/>
            <a:ext cx="1397000" cy="4001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vi-VN" sz="1300" b="1">
                <a:solidFill>
                  <a:srgbClr val="F1F5F9"/>
                </a:solidFill>
                <a:latin typeface="Aptos" panose="020B0004020202020204" pitchFamily="34" charset="0"/>
              </a:rPr>
              <a:t>1. Validate event + node status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40C3793-71DF-3D6F-E64E-B685E1CADF2C}"/>
              </a:ext>
            </a:extLst>
          </p:cNvPr>
          <p:cNvSpPr/>
          <p:nvPr/>
        </p:nvSpPr>
        <p:spPr>
          <a:xfrm>
            <a:off x="2628900" y="2463800"/>
            <a:ext cx="1651000" cy="1193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35F8F8-5CFD-61C2-3AD2-A341A1A3B23C}"/>
              </a:ext>
            </a:extLst>
          </p:cNvPr>
          <p:cNvSpPr txBox="1"/>
          <p:nvPr/>
        </p:nvSpPr>
        <p:spPr>
          <a:xfrm>
            <a:off x="2755900" y="2717800"/>
            <a:ext cx="1397000" cy="4001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vi-VN" sz="1300" b="1">
                <a:solidFill>
                  <a:srgbClr val="F1F5F9"/>
                </a:solidFill>
                <a:latin typeface="Aptos" panose="020B0004020202020204" pitchFamily="34" charset="0"/>
              </a:rPr>
              <a:t>2. Global dedup lookup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EBFCA27-5910-08CC-471C-C8885FAAC351}"/>
              </a:ext>
            </a:extLst>
          </p:cNvPr>
          <p:cNvSpPr/>
          <p:nvPr/>
        </p:nvSpPr>
        <p:spPr>
          <a:xfrm>
            <a:off x="4470400" y="2463800"/>
            <a:ext cx="1651000" cy="1193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643568E-3201-818A-8F21-07060D5249B8}"/>
              </a:ext>
            </a:extLst>
          </p:cNvPr>
          <p:cNvSpPr txBox="1"/>
          <p:nvPr/>
        </p:nvSpPr>
        <p:spPr>
          <a:xfrm>
            <a:off x="4597400" y="2717800"/>
            <a:ext cx="1397000" cy="4001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sz="1300" b="1">
                <a:solidFill>
                  <a:srgbClr val="F1F5F9"/>
                </a:solidFill>
                <a:latin typeface="Aptos" panose="020B0004020202020204" pitchFamily="34" charset="0"/>
              </a:rPr>
              <a:t>3. Atomic claim idempotency_key</a:t>
            </a:r>
            <a:endParaRPr lang="vi-VN" sz="1300" b="1">
              <a:solidFill>
                <a:srgbClr val="F1F5F9"/>
              </a:solidFill>
              <a:latin typeface="Aptos" panose="020B000402020202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ECFE563-B2F1-B5B0-8B38-B9DCAF467EA7}"/>
              </a:ext>
            </a:extLst>
          </p:cNvPr>
          <p:cNvSpPr/>
          <p:nvPr/>
        </p:nvSpPr>
        <p:spPr>
          <a:xfrm>
            <a:off x="6311900" y="2463800"/>
            <a:ext cx="1651000" cy="1193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B197F47-5F2E-2439-41FC-9B9DFB6BFEC4}"/>
              </a:ext>
            </a:extLst>
          </p:cNvPr>
          <p:cNvSpPr txBox="1"/>
          <p:nvPr/>
        </p:nvSpPr>
        <p:spPr>
          <a:xfrm>
            <a:off x="6438900" y="2717800"/>
            <a:ext cx="1397000" cy="4001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vi-VN" sz="1300" b="1">
                <a:solidFill>
                  <a:srgbClr val="F1F5F9"/>
                </a:solidFill>
                <a:latin typeface="Aptos" panose="020B0004020202020204" pitchFamily="34" charset="0"/>
              </a:rPr>
              <a:t>4. Write WAL PENDING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913FC8A-4CC6-EB42-BE2C-D248BC5ACCAD}"/>
              </a:ext>
            </a:extLst>
          </p:cNvPr>
          <p:cNvSpPr/>
          <p:nvPr/>
        </p:nvSpPr>
        <p:spPr>
          <a:xfrm>
            <a:off x="8153400" y="2463800"/>
            <a:ext cx="1651000" cy="1193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6E73C0A-C78F-0CB6-C9B5-9465A9FAB9E4}"/>
              </a:ext>
            </a:extLst>
          </p:cNvPr>
          <p:cNvSpPr txBox="1"/>
          <p:nvPr/>
        </p:nvSpPr>
        <p:spPr>
          <a:xfrm>
            <a:off x="8280400" y="2717800"/>
            <a:ext cx="1397000" cy="60016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vi-VN" sz="1300" b="1">
                <a:solidFill>
                  <a:srgbClr val="F1F5F9"/>
                </a:solidFill>
                <a:latin typeface="Aptos" panose="020B0004020202020204" pitchFamily="34" charset="0"/>
              </a:rPr>
              <a:t>5. Update balances + transaction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C495E70F-2FCA-289C-3C08-8B1EDBB0A76F}"/>
              </a:ext>
            </a:extLst>
          </p:cNvPr>
          <p:cNvSpPr/>
          <p:nvPr/>
        </p:nvSpPr>
        <p:spPr>
          <a:xfrm>
            <a:off x="9994900" y="2463800"/>
            <a:ext cx="1651000" cy="1193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874EE2C-F30A-46EC-8608-E1BDDA24BC49}"/>
              </a:ext>
            </a:extLst>
          </p:cNvPr>
          <p:cNvSpPr txBox="1"/>
          <p:nvPr/>
        </p:nvSpPr>
        <p:spPr>
          <a:xfrm>
            <a:off x="10121900" y="2717800"/>
            <a:ext cx="1397000" cy="60016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sz="1300" b="1">
                <a:solidFill>
                  <a:srgbClr val="F1F5F9"/>
                </a:solidFill>
                <a:latin typeface="Aptos" panose="020B0004020202020204" pitchFamily="34" charset="0"/>
              </a:rPr>
              <a:t>6. Complete dedup + WAL COMMITTED</a:t>
            </a:r>
            <a:endParaRPr lang="vi-VN" sz="1300" b="1">
              <a:solidFill>
                <a:srgbClr val="F1F5F9"/>
              </a:solidFill>
              <a:latin typeface="Aptos" panose="020B00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08F54AD-0905-146D-D7A0-46B67575B6B1}"/>
              </a:ext>
            </a:extLst>
          </p:cNvPr>
          <p:cNvSpPr txBox="1"/>
          <p:nvPr/>
        </p:nvSpPr>
        <p:spPr>
          <a:xfrm>
            <a:off x="1193800" y="4343400"/>
            <a:ext cx="9652000" cy="83099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>
                <a:solidFill>
                  <a:srgbClr val="F1F5F9"/>
                </a:solidFill>
                <a:latin typeface="Aptos" panose="020B0004020202020204" pitchFamily="34" charset="0"/>
              </a:rPr>
              <a:t>• Nếu key đã tồn tại: request mới nhận DUPLICATE_REJECTED.
• Nếu node failed: payment bị reject trước khi ghi transaction.
• Toàn bộ thay đổi chính chạy trong transaction local của node.</a:t>
            </a:r>
          </a:p>
        </p:txBody>
      </p:sp>
    </p:spTree>
    <p:extLst>
      <p:ext uri="{BB962C8B-B14F-4D97-AF65-F5344CB8AC3E}">
        <p14:creationId xmlns:p14="http://schemas.microsoft.com/office/powerpoint/2010/main" val="16654511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07F8EF9-BFBA-C97D-3A4F-025889ACBF1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158A17-F5AA-F92A-CBD0-6AD12AD6CFB8}"/>
              </a:ext>
            </a:extLst>
          </p:cNvPr>
          <p:cNvSpPr txBox="1"/>
          <p:nvPr/>
        </p:nvSpPr>
        <p:spPr>
          <a:xfrm>
            <a:off x="533400" y="330200"/>
            <a:ext cx="2286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100" b="1">
                <a:solidFill>
                  <a:srgbClr val="10B981"/>
                </a:solidFill>
                <a:latin typeface="Aptos" panose="020B0004020202020204" pitchFamily="34" charset="0"/>
              </a:rPr>
              <a:t>04 / DEDUP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07264B-9DA3-2516-6D20-0DF721984B94}"/>
              </a:ext>
            </a:extLst>
          </p:cNvPr>
          <p:cNvSpPr txBox="1"/>
          <p:nvPr/>
        </p:nvSpPr>
        <p:spPr>
          <a:xfrm>
            <a:off x="533400" y="660400"/>
            <a:ext cx="9906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F1F5F9"/>
                </a:solidFill>
                <a:latin typeface="Aptos" panose="020B0004020202020204" pitchFamily="34" charset="0"/>
              </a:rPr>
              <a:t>Global idempotency key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62A149-0C71-CD30-09EB-BB659CAF7158}"/>
              </a:ext>
            </a:extLst>
          </p:cNvPr>
          <p:cNvSpPr txBox="1"/>
          <p:nvPr/>
        </p:nvSpPr>
        <p:spPr>
          <a:xfrm>
            <a:off x="558800" y="1270000"/>
            <a:ext cx="1041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400">
                <a:solidFill>
                  <a:srgbClr val="94A3B8"/>
                </a:solidFill>
                <a:latin typeface="Aptos" panose="020B0004020202020204" pitchFamily="34" charset="0"/>
              </a:rPr>
              <a:t>Điểm kiểm soát nhỏ nhưng quyết định correctness toàn hệ thống.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431FCC-48B5-54B2-F8CC-051850E06A20}"/>
              </a:ext>
            </a:extLst>
          </p:cNvPr>
          <p:cNvSpPr/>
          <p:nvPr/>
        </p:nvSpPr>
        <p:spPr>
          <a:xfrm>
            <a:off x="533400" y="1600200"/>
            <a:ext cx="111252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985599B-B031-590E-A6AE-9C8CCFFD7575}"/>
              </a:ext>
            </a:extLst>
          </p:cNvPr>
          <p:cNvSpPr/>
          <p:nvPr/>
        </p:nvSpPr>
        <p:spPr>
          <a:xfrm>
            <a:off x="914400" y="2032000"/>
            <a:ext cx="4572000" cy="2794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8B3655F-17E1-8991-A17B-99F0F62BA5B3}"/>
              </a:ext>
            </a:extLst>
          </p:cNvPr>
          <p:cNvSpPr txBox="1"/>
          <p:nvPr/>
        </p:nvSpPr>
        <p:spPr>
          <a:xfrm>
            <a:off x="1244600" y="2336800"/>
            <a:ext cx="3810000" cy="33855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200" b="1">
                <a:solidFill>
                  <a:srgbClr val="F59E0B"/>
                </a:solidFill>
                <a:latin typeface="Aptos" panose="020B0004020202020204" pitchFamily="34" charset="0"/>
              </a:rPr>
              <a:t>GlobalDeduplicationStore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61747F-5695-2AFA-841E-8B8AC8FA1018}"/>
              </a:ext>
            </a:extLst>
          </p:cNvPr>
          <p:cNvSpPr txBox="1"/>
          <p:nvPr/>
        </p:nvSpPr>
        <p:spPr>
          <a:xfrm>
            <a:off x="1320800" y="2946400"/>
            <a:ext cx="3708400" cy="130805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700">
                <a:solidFill>
                  <a:srgbClr val="F1F5F9"/>
                </a:solidFill>
                <a:latin typeface="Aptos" panose="020B0004020202020204" pitchFamily="34" charset="0"/>
              </a:rPr>
              <a:t>• idempotency_key là primary key
• claimOrExisting() dùng insert atomic
• completeSuccess() lưu result_data
• deleteExpired() dùng event-time window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BA1B64B-301A-A5DC-FD80-3E403DD9329B}"/>
              </a:ext>
            </a:extLst>
          </p:cNvPr>
          <p:cNvSpPr/>
          <p:nvPr/>
        </p:nvSpPr>
        <p:spPr>
          <a:xfrm>
            <a:off x="6705600" y="2032000"/>
            <a:ext cx="4318000" cy="2794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398AD1D-01F6-3F0F-992A-0E24FC5E783F}"/>
              </a:ext>
            </a:extLst>
          </p:cNvPr>
          <p:cNvSpPr txBox="1"/>
          <p:nvPr/>
        </p:nvSpPr>
        <p:spPr>
          <a:xfrm>
            <a:off x="7035800" y="2336800"/>
            <a:ext cx="3302000" cy="33855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200" b="1">
                <a:solidFill>
                  <a:srgbClr val="22D3EE"/>
                </a:solidFill>
                <a:latin typeface="Aptos" panose="020B0004020202020204" pitchFamily="34" charset="0"/>
              </a:rPr>
              <a:t>Kịch bản cross-node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6A173B4-5335-7C5C-F8E9-8D5A51479291}"/>
              </a:ext>
            </a:extLst>
          </p:cNvPr>
          <p:cNvSpPr txBox="1"/>
          <p:nvPr/>
        </p:nvSpPr>
        <p:spPr>
          <a:xfrm>
            <a:off x="7112000" y="2946400"/>
            <a:ext cx="3175000" cy="130805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700">
                <a:solidFill>
                  <a:srgbClr val="F1F5F9"/>
                </a:solidFill>
                <a:latin typeface="Aptos" panose="020B0004020202020204" pitchFamily="34" charset="0"/>
              </a:rPr>
              <a:t>• Request 1 -&gt; NODE_B -&gt; SUCCESS
• Request 2 cùng key -&gt; NODE_C
• NODE_C thấy key đã claim
• Kết quả: DUPLICATE_REJECTED</a:t>
            </a:r>
          </a:p>
        </p:txBody>
      </p:sp>
    </p:spTree>
    <p:extLst>
      <p:ext uri="{BB962C8B-B14F-4D97-AF65-F5344CB8AC3E}">
        <p14:creationId xmlns:p14="http://schemas.microsoft.com/office/powerpoint/2010/main" val="27842004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94EBAE0-739B-3E58-877D-55640DE5931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F93D0D-A77C-6FC7-316D-D5F6E68AD49A}"/>
              </a:ext>
            </a:extLst>
          </p:cNvPr>
          <p:cNvSpPr txBox="1"/>
          <p:nvPr/>
        </p:nvSpPr>
        <p:spPr>
          <a:xfrm>
            <a:off x="533400" y="330200"/>
            <a:ext cx="2286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100" b="1">
                <a:solidFill>
                  <a:srgbClr val="10B981"/>
                </a:solidFill>
                <a:latin typeface="Aptos" panose="020B0004020202020204" pitchFamily="34" charset="0"/>
              </a:rPr>
              <a:t>04 / WAL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BBBB7F-F208-40C8-8507-969D30DF3D53}"/>
              </a:ext>
            </a:extLst>
          </p:cNvPr>
          <p:cNvSpPr txBox="1"/>
          <p:nvPr/>
        </p:nvSpPr>
        <p:spPr>
          <a:xfrm>
            <a:off x="533400" y="660400"/>
            <a:ext cx="9906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F1F5F9"/>
                </a:solidFill>
                <a:latin typeface="Aptos" panose="020B0004020202020204" pitchFamily="34" charset="0"/>
              </a:rPr>
              <a:t>Write-Ahead Log và recovery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3B3276-119A-C843-F357-08A4D6AAA109}"/>
              </a:ext>
            </a:extLst>
          </p:cNvPr>
          <p:cNvSpPr txBox="1"/>
          <p:nvPr/>
        </p:nvSpPr>
        <p:spPr>
          <a:xfrm>
            <a:off x="558800" y="1270000"/>
            <a:ext cx="1041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400">
                <a:solidFill>
                  <a:srgbClr val="94A3B8"/>
                </a:solidFill>
                <a:latin typeface="Aptos" panose="020B0004020202020204" pitchFamily="34" charset="0"/>
              </a:rPr>
              <a:t>WAL bảo vệ trạng thái khi lỗi xảy ra giữa claim key và commit transaction.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1E461C-2118-A75C-3EE1-61F66EC7D5C9}"/>
              </a:ext>
            </a:extLst>
          </p:cNvPr>
          <p:cNvSpPr/>
          <p:nvPr/>
        </p:nvSpPr>
        <p:spPr>
          <a:xfrm>
            <a:off x="533400" y="1600200"/>
            <a:ext cx="111252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0333749-82B4-82C2-351D-0371C777C727}"/>
              </a:ext>
            </a:extLst>
          </p:cNvPr>
          <p:cNvSpPr/>
          <p:nvPr/>
        </p:nvSpPr>
        <p:spPr>
          <a:xfrm>
            <a:off x="889000" y="2006600"/>
            <a:ext cx="10414000" cy="1041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6A68BD9-6B58-4A99-1830-3DE28840061C}"/>
              </a:ext>
            </a:extLst>
          </p:cNvPr>
          <p:cNvSpPr txBox="1"/>
          <p:nvPr/>
        </p:nvSpPr>
        <p:spPr>
          <a:xfrm>
            <a:off x="1219200" y="2387600"/>
            <a:ext cx="9652000" cy="615553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vi-VN" sz="2000" b="1">
                <a:solidFill>
                  <a:srgbClr val="10B981"/>
                </a:solidFill>
                <a:latin typeface="Aptos" panose="020B0004020202020204" pitchFamily="34" charset="0"/>
              </a:rPr>
              <a:t>Rule: ghi WAL PENDING trước khi thay đổi balance, sau commit đánh dấu COMMITTED.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4D3F365-9600-F8A1-B9F0-B71F236868B3}"/>
              </a:ext>
            </a:extLst>
          </p:cNvPr>
          <p:cNvSpPr txBox="1"/>
          <p:nvPr/>
        </p:nvSpPr>
        <p:spPr>
          <a:xfrm>
            <a:off x="1320800" y="3581400"/>
            <a:ext cx="9906000" cy="110799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>
                <a:solidFill>
                  <a:srgbClr val="F1F5F9"/>
                </a:solidFill>
                <a:latin typeface="Aptos" panose="020B0004020202020204" pitchFamily="34" charset="0"/>
              </a:rPr>
              <a:t>• wal_log_entry lưu before/after balance, nodeId, paymentId, idempotencyKey.
• Replay WAL quét PENDING và kiểm tra transaction tương ứng.
• Nếu transaction đã tồn tại: COMMITTED; nếu không: ROLLED_BACK.
• Dashboard có nút Replay WAL để demo recovery path.</a:t>
            </a:r>
          </a:p>
        </p:txBody>
      </p:sp>
    </p:spTree>
    <p:extLst>
      <p:ext uri="{BB962C8B-B14F-4D97-AF65-F5344CB8AC3E}">
        <p14:creationId xmlns:p14="http://schemas.microsoft.com/office/powerpoint/2010/main" val="25190506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94CEFB8-146C-221C-2DAD-C3D5EC39798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69C208-9FEA-2F8B-5FA1-548766F4B099}"/>
              </a:ext>
            </a:extLst>
          </p:cNvPr>
          <p:cNvSpPr txBox="1"/>
          <p:nvPr/>
        </p:nvSpPr>
        <p:spPr>
          <a:xfrm>
            <a:off x="533400" y="330200"/>
            <a:ext cx="2286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100" b="1">
                <a:solidFill>
                  <a:srgbClr val="10B981"/>
                </a:solidFill>
                <a:latin typeface="Aptos" panose="020B0004020202020204" pitchFamily="34" charset="0"/>
              </a:rPr>
              <a:t>04 / STREAM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2CA110-5F1A-7566-F3D2-BCBFD9945E48}"/>
              </a:ext>
            </a:extLst>
          </p:cNvPr>
          <p:cNvSpPr txBox="1"/>
          <p:nvPr/>
        </p:nvSpPr>
        <p:spPr>
          <a:xfrm>
            <a:off x="533400" y="660400"/>
            <a:ext cx="9906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F1F5F9"/>
                </a:solidFill>
                <a:latin typeface="Aptos" panose="020B0004020202020204" pitchFamily="34" charset="0"/>
              </a:rPr>
              <a:t>Event-time stream processing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4D08F6-43F4-0BCC-0EF0-7B95142E047A}"/>
              </a:ext>
            </a:extLst>
          </p:cNvPr>
          <p:cNvSpPr txBox="1"/>
          <p:nvPr/>
        </p:nvSpPr>
        <p:spPr>
          <a:xfrm>
            <a:off x="558800" y="1270000"/>
            <a:ext cx="1041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400">
                <a:solidFill>
                  <a:srgbClr val="94A3B8"/>
                </a:solidFill>
                <a:latin typeface="Aptos" panose="020B0004020202020204" pitchFamily="34" charset="0"/>
              </a:rPr>
              <a:t>Benchmark không chỉ bắn request tuần tự; nó tạo disorder có kiểm soát.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482AEDC-0EA4-7A2D-202F-7AAEEDE47722}"/>
              </a:ext>
            </a:extLst>
          </p:cNvPr>
          <p:cNvSpPr/>
          <p:nvPr/>
        </p:nvSpPr>
        <p:spPr>
          <a:xfrm>
            <a:off x="533400" y="1600200"/>
            <a:ext cx="111252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5915ED6-1742-62B5-5028-44A6197658D6}"/>
              </a:ext>
            </a:extLst>
          </p:cNvPr>
          <p:cNvSpPr/>
          <p:nvPr/>
        </p:nvSpPr>
        <p:spPr>
          <a:xfrm>
            <a:off x="939800" y="2006600"/>
            <a:ext cx="2413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F68872-FAC7-F35D-9026-1BFC5A8F9D8A}"/>
              </a:ext>
            </a:extLst>
          </p:cNvPr>
          <p:cNvSpPr txBox="1"/>
          <p:nvPr/>
        </p:nvSpPr>
        <p:spPr>
          <a:xfrm>
            <a:off x="1117600" y="2171700"/>
            <a:ext cx="2057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EF4444"/>
                </a:solidFill>
                <a:latin typeface="Aptos" panose="020B0004020202020204" pitchFamily="34" charset="0"/>
              </a:rPr>
              <a:t>73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4EAB4C-CF83-B11A-7B9C-BA115769414C}"/>
              </a:ext>
            </a:extLst>
          </p:cNvPr>
          <p:cNvSpPr txBox="1"/>
          <p:nvPr/>
        </p:nvSpPr>
        <p:spPr>
          <a:xfrm>
            <a:off x="1117600" y="2616200"/>
            <a:ext cx="2057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Out-of-order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3F718EA-DAB5-A49A-3850-B6F3ACA1E6E3}"/>
              </a:ext>
            </a:extLst>
          </p:cNvPr>
          <p:cNvSpPr/>
          <p:nvPr/>
        </p:nvSpPr>
        <p:spPr>
          <a:xfrm>
            <a:off x="3708400" y="2006600"/>
            <a:ext cx="2413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22A16C-8430-8EDE-A7BA-C876A9F6A04F}"/>
              </a:ext>
            </a:extLst>
          </p:cNvPr>
          <p:cNvSpPr txBox="1"/>
          <p:nvPr/>
        </p:nvSpPr>
        <p:spPr>
          <a:xfrm>
            <a:off x="3886200" y="2171700"/>
            <a:ext cx="2057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EF4444"/>
                </a:solidFill>
                <a:latin typeface="Aptos" panose="020B0004020202020204" pitchFamily="34" charset="0"/>
              </a:rPr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C5D911-643E-66C6-0480-B87374F146C8}"/>
              </a:ext>
            </a:extLst>
          </p:cNvPr>
          <p:cNvSpPr txBox="1"/>
          <p:nvPr/>
        </p:nvSpPr>
        <p:spPr>
          <a:xfrm>
            <a:off x="3886200" y="2616200"/>
            <a:ext cx="2057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Late events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4A26FEE3-AF3E-1127-992A-ABBA09F3D7D5}"/>
              </a:ext>
            </a:extLst>
          </p:cNvPr>
          <p:cNvSpPr/>
          <p:nvPr/>
        </p:nvSpPr>
        <p:spPr>
          <a:xfrm>
            <a:off x="6477000" y="2006600"/>
            <a:ext cx="2921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FDAB527-E39C-9B34-8ECA-3E0AE1262ADB}"/>
              </a:ext>
            </a:extLst>
          </p:cNvPr>
          <p:cNvSpPr txBox="1"/>
          <p:nvPr/>
        </p:nvSpPr>
        <p:spPr>
          <a:xfrm>
            <a:off x="6654800" y="2171700"/>
            <a:ext cx="2565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F59E0B"/>
                </a:solidFill>
                <a:latin typeface="Aptos" panose="020B0004020202020204" pitchFamily="34" charset="0"/>
              </a:rPr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C49261-1851-8BB3-424D-E0C0A2DCC349}"/>
              </a:ext>
            </a:extLst>
          </p:cNvPr>
          <p:cNvSpPr txBox="1"/>
          <p:nvPr/>
        </p:nvSpPr>
        <p:spPr>
          <a:xfrm>
            <a:off x="6654800" y="2616200"/>
            <a:ext cx="2565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Backpressure delayed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FF4D73B-F3A0-E65A-AD46-EB425F77EEE9}"/>
              </a:ext>
            </a:extLst>
          </p:cNvPr>
          <p:cNvSpPr/>
          <p:nvPr/>
        </p:nvSpPr>
        <p:spPr>
          <a:xfrm>
            <a:off x="9753600" y="2006600"/>
            <a:ext cx="16002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0D41854-D127-28A6-F3B9-396AEF745AE1}"/>
              </a:ext>
            </a:extLst>
          </p:cNvPr>
          <p:cNvSpPr txBox="1"/>
          <p:nvPr/>
        </p:nvSpPr>
        <p:spPr>
          <a:xfrm>
            <a:off x="9931400" y="2171700"/>
            <a:ext cx="12446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22D3EE"/>
                </a:solidFill>
                <a:latin typeface="Aptos" panose="020B0004020202020204" pitchFamily="34" charset="0"/>
              </a:rPr>
              <a:t>10s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583E13-7092-A1A6-ED16-C0CDE66AA420}"/>
              </a:ext>
            </a:extLst>
          </p:cNvPr>
          <p:cNvSpPr txBox="1"/>
          <p:nvPr/>
        </p:nvSpPr>
        <p:spPr>
          <a:xfrm>
            <a:off x="9931400" y="2616200"/>
            <a:ext cx="12446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Window size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E99502E-10D6-69BC-9445-51FEDF9F71D5}"/>
              </a:ext>
            </a:extLst>
          </p:cNvPr>
          <p:cNvSpPr txBox="1"/>
          <p:nvPr/>
        </p:nvSpPr>
        <p:spPr>
          <a:xfrm>
            <a:off x="1168400" y="3606800"/>
            <a:ext cx="9906000" cy="138499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>
                <a:solidFill>
                  <a:srgbClr val="F1F5F9"/>
                </a:solidFill>
                <a:latin typeface="Aptos" panose="020B0004020202020204" pitchFamily="34" charset="0"/>
              </a:rPr>
              <a:t>• eventTimeMs dùng để tính tumbling window.
• processingTimeMs dùng để đo event lag.
• watermark = maxEventTime - allowedLatenessMs.
• lateEvents tăng khi eventTimeMs nhỏ hơn watermark.
• backpressureDelayed mô phỏng nghẽn khi vượt max-in-flight events.</a:t>
            </a:r>
          </a:p>
        </p:txBody>
      </p:sp>
    </p:spTree>
    <p:extLst>
      <p:ext uri="{BB962C8B-B14F-4D97-AF65-F5344CB8AC3E}">
        <p14:creationId xmlns:p14="http://schemas.microsoft.com/office/powerpoint/2010/main" val="33249697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E040408-4063-4CD9-E194-BEDD6B309A8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A71FBA-17C7-7F8D-7645-DB1821FD2403}"/>
              </a:ext>
            </a:extLst>
          </p:cNvPr>
          <p:cNvSpPr txBox="1"/>
          <p:nvPr/>
        </p:nvSpPr>
        <p:spPr>
          <a:xfrm>
            <a:off x="533400" y="330200"/>
            <a:ext cx="2286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100" b="1">
                <a:solidFill>
                  <a:srgbClr val="10B981"/>
                </a:solidFill>
                <a:latin typeface="Aptos" panose="020B0004020202020204" pitchFamily="34" charset="0"/>
              </a:rPr>
              <a:t>05 / METRICS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F0CC2F-A875-A6B3-D0B6-8347BF68AE63}"/>
              </a:ext>
            </a:extLst>
          </p:cNvPr>
          <p:cNvSpPr txBox="1"/>
          <p:nvPr/>
        </p:nvSpPr>
        <p:spPr>
          <a:xfrm>
            <a:off x="533400" y="660400"/>
            <a:ext cx="9906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F1F5F9"/>
                </a:solidFill>
                <a:latin typeface="Aptos" panose="020B0004020202020204" pitchFamily="34" charset="0"/>
              </a:rPr>
              <a:t>Benchmark metrics checklist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F0F27D-0486-86E9-6A0A-167DDA0BC4AB}"/>
              </a:ext>
            </a:extLst>
          </p:cNvPr>
          <p:cNvSpPr txBox="1"/>
          <p:nvPr/>
        </p:nvSpPr>
        <p:spPr>
          <a:xfrm>
            <a:off x="558800" y="1270000"/>
            <a:ext cx="1041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400">
                <a:solidFill>
                  <a:srgbClr val="94A3B8"/>
                </a:solidFill>
                <a:latin typeface="Aptos" panose="020B0004020202020204" pitchFamily="34" charset="0"/>
              </a:rPr>
              <a:t>Các chỉ số được đo trực tiếp từ BenchmarkRun và StreamWindow.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FD19B33-D8BE-03A6-0E60-F292990D35E5}"/>
              </a:ext>
            </a:extLst>
          </p:cNvPr>
          <p:cNvSpPr/>
          <p:nvPr/>
        </p:nvSpPr>
        <p:spPr>
          <a:xfrm>
            <a:off x="533400" y="1600200"/>
            <a:ext cx="111252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637E52B-864C-BFA1-A8E6-E43CA3157119}"/>
              </a:ext>
            </a:extLst>
          </p:cNvPr>
          <p:cNvSpPr/>
          <p:nvPr/>
        </p:nvSpPr>
        <p:spPr>
          <a:xfrm>
            <a:off x="787400" y="2006600"/>
            <a:ext cx="2032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3B5FF3-06A8-DC57-4ED3-B07900D333BE}"/>
              </a:ext>
            </a:extLst>
          </p:cNvPr>
          <p:cNvSpPr txBox="1"/>
          <p:nvPr/>
        </p:nvSpPr>
        <p:spPr>
          <a:xfrm>
            <a:off x="965200" y="2171700"/>
            <a:ext cx="1676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60A5FA"/>
                </a:solidFill>
                <a:latin typeface="Aptos" panose="020B0004020202020204" pitchFamily="34" charset="0"/>
              </a:rPr>
              <a:t>TPS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52C6CC-1819-6D28-0E1E-72A5F66FC59A}"/>
              </a:ext>
            </a:extLst>
          </p:cNvPr>
          <p:cNvSpPr txBox="1"/>
          <p:nvPr/>
        </p:nvSpPr>
        <p:spPr>
          <a:xfrm>
            <a:off x="965200" y="2616200"/>
            <a:ext cx="1676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Throughput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2D503C5-2A5D-1488-D671-D6D32CD82344}"/>
              </a:ext>
            </a:extLst>
          </p:cNvPr>
          <p:cNvSpPr/>
          <p:nvPr/>
        </p:nvSpPr>
        <p:spPr>
          <a:xfrm>
            <a:off x="3073400" y="2006600"/>
            <a:ext cx="2667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6C7D2B4-3623-6113-248C-56383CB0FEA9}"/>
              </a:ext>
            </a:extLst>
          </p:cNvPr>
          <p:cNvSpPr txBox="1"/>
          <p:nvPr/>
        </p:nvSpPr>
        <p:spPr>
          <a:xfrm>
            <a:off x="3251200" y="2171700"/>
            <a:ext cx="2311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900" b="1">
                <a:solidFill>
                  <a:srgbClr val="22D3EE"/>
                </a:solidFill>
                <a:latin typeface="Aptos" panose="020B0004020202020204" pitchFamily="34" charset="0"/>
              </a:rPr>
              <a:t>avg/p50/p95/p99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1792F75-FC83-4376-7564-A6AF6AA700F1}"/>
              </a:ext>
            </a:extLst>
          </p:cNvPr>
          <p:cNvSpPr txBox="1"/>
          <p:nvPr/>
        </p:nvSpPr>
        <p:spPr>
          <a:xfrm>
            <a:off x="3251200" y="2616200"/>
            <a:ext cx="2311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Latency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4062B57-C49F-635B-EC5E-CB8B1C038284}"/>
              </a:ext>
            </a:extLst>
          </p:cNvPr>
          <p:cNvSpPr/>
          <p:nvPr/>
        </p:nvSpPr>
        <p:spPr>
          <a:xfrm>
            <a:off x="5994400" y="2006600"/>
            <a:ext cx="2413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5A1F34-A536-BFA7-4D95-5F62AC6EF1C2}"/>
              </a:ext>
            </a:extLst>
          </p:cNvPr>
          <p:cNvSpPr txBox="1"/>
          <p:nvPr/>
        </p:nvSpPr>
        <p:spPr>
          <a:xfrm>
            <a:off x="6172200" y="2171700"/>
            <a:ext cx="2057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EF4444"/>
                </a:solidFill>
                <a:latin typeface="Aptos" panose="020B0004020202020204" pitchFamily="34" charset="0"/>
              </a:rPr>
              <a:t>ALO risk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0958C8C-11C8-17E4-D7C6-8628EDB8CBB8}"/>
              </a:ext>
            </a:extLst>
          </p:cNvPr>
          <p:cNvSpPr txBox="1"/>
          <p:nvPr/>
        </p:nvSpPr>
        <p:spPr>
          <a:xfrm>
            <a:off x="6172200" y="2616200"/>
            <a:ext cx="2057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Duplicate charges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95FFBA8-DB58-8510-A1C2-B99886848D03}"/>
              </a:ext>
            </a:extLst>
          </p:cNvPr>
          <p:cNvSpPr/>
          <p:nvPr/>
        </p:nvSpPr>
        <p:spPr>
          <a:xfrm>
            <a:off x="8661400" y="2006600"/>
            <a:ext cx="2667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F71325F-6867-7D5B-90A3-7D39FAE78446}"/>
              </a:ext>
            </a:extLst>
          </p:cNvPr>
          <p:cNvSpPr txBox="1"/>
          <p:nvPr/>
        </p:nvSpPr>
        <p:spPr>
          <a:xfrm>
            <a:off x="8839200" y="2171700"/>
            <a:ext cx="2311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10B981"/>
                </a:solidFill>
                <a:latin typeface="Aptos" panose="020B0004020202020204" pitchFamily="34" charset="0"/>
              </a:rPr>
              <a:t>EOS reject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B823DDE-9C52-CE6B-0E71-F9B23C457EF0}"/>
              </a:ext>
            </a:extLst>
          </p:cNvPr>
          <p:cNvSpPr txBox="1"/>
          <p:nvPr/>
        </p:nvSpPr>
        <p:spPr>
          <a:xfrm>
            <a:off x="8839200" y="2616200"/>
            <a:ext cx="2311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Duplicates blocked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B5F48BD-1922-4DE1-D902-48786C73E6BA}"/>
              </a:ext>
            </a:extLst>
          </p:cNvPr>
          <p:cNvSpPr/>
          <p:nvPr/>
        </p:nvSpPr>
        <p:spPr>
          <a:xfrm>
            <a:off x="2032000" y="3530600"/>
            <a:ext cx="2667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4A8D4F1-48D9-85AF-1317-E6BBEFF735F9}"/>
              </a:ext>
            </a:extLst>
          </p:cNvPr>
          <p:cNvSpPr txBox="1"/>
          <p:nvPr/>
        </p:nvSpPr>
        <p:spPr>
          <a:xfrm>
            <a:off x="2209800" y="3695700"/>
            <a:ext cx="2311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F59E0B"/>
                </a:solidFill>
                <a:latin typeface="Aptos" panose="020B0004020202020204" pitchFamily="34" charset="0"/>
              </a:rPr>
              <a:t>1.42 ms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E6B8077-4785-1056-22D7-220A73B30637}"/>
              </a:ext>
            </a:extLst>
          </p:cNvPr>
          <p:cNvSpPr txBox="1"/>
          <p:nvPr/>
        </p:nvSpPr>
        <p:spPr>
          <a:xfrm>
            <a:off x="2209800" y="4140200"/>
            <a:ext cx="2311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WAL write latency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126EFE39-2819-B592-60C7-B530B474C72B}"/>
              </a:ext>
            </a:extLst>
          </p:cNvPr>
          <p:cNvSpPr/>
          <p:nvPr/>
        </p:nvSpPr>
        <p:spPr>
          <a:xfrm>
            <a:off x="5016500" y="3530600"/>
            <a:ext cx="2794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6402144-5A47-5C3A-6F0B-8E3B0F71DCD2}"/>
              </a:ext>
            </a:extLst>
          </p:cNvPr>
          <p:cNvSpPr txBox="1"/>
          <p:nvPr/>
        </p:nvSpPr>
        <p:spPr>
          <a:xfrm>
            <a:off x="5194300" y="3695700"/>
            <a:ext cx="2438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60A5FA"/>
                </a:solidFill>
                <a:latin typeface="Aptos" panose="020B0004020202020204" pitchFamily="34" charset="0"/>
              </a:rPr>
              <a:t>TPS + latency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2B9DA55-C8DF-2D91-F4C4-69E2DFDB831C}"/>
              </a:ext>
            </a:extLst>
          </p:cNvPr>
          <p:cNvSpPr txBox="1"/>
          <p:nvPr/>
        </p:nvSpPr>
        <p:spPr>
          <a:xfrm>
            <a:off x="5194300" y="4140200"/>
            <a:ext cx="2438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Window metrics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19A8F364-8F7A-423E-8844-DAE5E08ABDF3}"/>
              </a:ext>
            </a:extLst>
          </p:cNvPr>
          <p:cNvSpPr/>
          <p:nvPr/>
        </p:nvSpPr>
        <p:spPr>
          <a:xfrm>
            <a:off x="8128000" y="3530600"/>
            <a:ext cx="2286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6F3DE45-FF09-49B7-33B3-22A9C142139F}"/>
              </a:ext>
            </a:extLst>
          </p:cNvPr>
          <p:cNvSpPr txBox="1"/>
          <p:nvPr/>
        </p:nvSpPr>
        <p:spPr>
          <a:xfrm>
            <a:off x="8305800" y="3695700"/>
            <a:ext cx="1930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900" b="1">
                <a:solidFill>
                  <a:srgbClr val="EF4444"/>
                </a:solidFill>
                <a:latin typeface="Aptos" panose="020B0004020202020204" pitchFamily="34" charset="0"/>
              </a:rPr>
              <a:t>OOO/Late/BP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2C65736-B62D-E82F-2D7D-70C0F49BB77A}"/>
              </a:ext>
            </a:extLst>
          </p:cNvPr>
          <p:cNvSpPr txBox="1"/>
          <p:nvPr/>
        </p:nvSpPr>
        <p:spPr>
          <a:xfrm>
            <a:off x="8305800" y="4140200"/>
            <a:ext cx="1930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Disorder</a:t>
            </a:r>
          </a:p>
        </p:txBody>
      </p:sp>
    </p:spTree>
    <p:extLst>
      <p:ext uri="{BB962C8B-B14F-4D97-AF65-F5344CB8AC3E}">
        <p14:creationId xmlns:p14="http://schemas.microsoft.com/office/powerpoint/2010/main" val="32036345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0E2F98A-C77B-4C79-1016-6BADDBDCAEA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253619-4E38-EF85-C4E0-FB79DEC5F7A9}"/>
              </a:ext>
            </a:extLst>
          </p:cNvPr>
          <p:cNvSpPr txBox="1"/>
          <p:nvPr/>
        </p:nvSpPr>
        <p:spPr>
          <a:xfrm>
            <a:off x="533400" y="330200"/>
            <a:ext cx="2286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100" b="1">
                <a:solidFill>
                  <a:srgbClr val="10B981"/>
                </a:solidFill>
                <a:latin typeface="Aptos" panose="020B0004020202020204" pitchFamily="34" charset="0"/>
              </a:rPr>
              <a:t>05 / TESTS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49D3E9-533A-D40E-CE48-C757874F5C76}"/>
              </a:ext>
            </a:extLst>
          </p:cNvPr>
          <p:cNvSpPr txBox="1"/>
          <p:nvPr/>
        </p:nvSpPr>
        <p:spPr>
          <a:xfrm>
            <a:off x="533400" y="660400"/>
            <a:ext cx="9906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F1F5F9"/>
                </a:solidFill>
                <a:latin typeface="Aptos" panose="020B0004020202020204" pitchFamily="34" charset="0"/>
              </a:rPr>
              <a:t>Các test và kịch bản demo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044685-07CE-B0D5-644D-96B919C97476}"/>
              </a:ext>
            </a:extLst>
          </p:cNvPr>
          <p:cNvSpPr txBox="1"/>
          <p:nvPr/>
        </p:nvSpPr>
        <p:spPr>
          <a:xfrm>
            <a:off x="558800" y="1270000"/>
            <a:ext cx="1041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400">
                <a:solidFill>
                  <a:srgbClr val="94A3B8"/>
                </a:solidFill>
                <a:latin typeface="Aptos" panose="020B0004020202020204" pitchFamily="34" charset="0"/>
              </a:rPr>
              <a:t>Backend test suite pass và dashboard có thao tác demo tương ứng.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3C04E5-B3F8-37D8-BF66-0FB7FD8C4352}"/>
              </a:ext>
            </a:extLst>
          </p:cNvPr>
          <p:cNvSpPr/>
          <p:nvPr/>
        </p:nvSpPr>
        <p:spPr>
          <a:xfrm>
            <a:off x="533400" y="1600200"/>
            <a:ext cx="111252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85966D-C5DA-9649-2E87-4EB70B898B15}"/>
              </a:ext>
            </a:extLst>
          </p:cNvPr>
          <p:cNvSpPr txBox="1"/>
          <p:nvPr/>
        </p:nvSpPr>
        <p:spPr>
          <a:xfrm>
            <a:off x="965200" y="2006600"/>
            <a:ext cx="10414000" cy="156966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700">
                <a:solidFill>
                  <a:srgbClr val="F1F5F9"/>
                </a:solidFill>
                <a:latin typeface="Aptos" panose="020B0004020202020204" pitchFamily="34" charset="0"/>
              </a:rPr>
              <a:t>• eosRejectsDuplicateAndCommitsOnce: EOS chỉ commit một transaction.
• aloProcessesDuplicates: ALO xử lý duplicate để làm baseline.
• outOfOrderRetryUsesEventTimeWindow: retry out-of-order vẫn bị dedup.
• concurrentEosDuplicateStillCommitsOnce: race condition chỉ có một SUCCESS.
• nodeFailureRejectsPayment: node FAILED trả 503.
• benchmarkShowsEosBlocksDuplicatesAndAloDoesNot: EOS chặn duplicate, ALO không chặn.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8BF53C6-D650-6F97-182F-D137D614F391}"/>
              </a:ext>
            </a:extLst>
          </p:cNvPr>
          <p:cNvSpPr/>
          <p:nvPr/>
        </p:nvSpPr>
        <p:spPr>
          <a:xfrm>
            <a:off x="1397000" y="4851400"/>
            <a:ext cx="2286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2FEE04E-6067-983C-B49E-8655FA72F354}"/>
              </a:ext>
            </a:extLst>
          </p:cNvPr>
          <p:cNvSpPr txBox="1"/>
          <p:nvPr/>
        </p:nvSpPr>
        <p:spPr>
          <a:xfrm>
            <a:off x="1574800" y="5016500"/>
            <a:ext cx="1930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10B981"/>
                </a:solidFill>
                <a:latin typeface="Aptos" panose="020B0004020202020204" pitchFamily="34" charset="0"/>
              </a:rPr>
              <a:t>8 PASS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7C2BDAF-9F9D-33ED-94BF-F3DB743B1928}"/>
              </a:ext>
            </a:extLst>
          </p:cNvPr>
          <p:cNvSpPr txBox="1"/>
          <p:nvPr/>
        </p:nvSpPr>
        <p:spPr>
          <a:xfrm>
            <a:off x="1574800" y="5461000"/>
            <a:ext cx="1930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Maven test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B210271-F50B-665E-70CF-F4782BD4CAA9}"/>
              </a:ext>
            </a:extLst>
          </p:cNvPr>
          <p:cNvSpPr/>
          <p:nvPr/>
        </p:nvSpPr>
        <p:spPr>
          <a:xfrm>
            <a:off x="4191000" y="4851400"/>
            <a:ext cx="2032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C1C35B1-A857-5095-7FC5-39662547DF2B}"/>
              </a:ext>
            </a:extLst>
          </p:cNvPr>
          <p:cNvSpPr txBox="1"/>
          <p:nvPr/>
        </p:nvSpPr>
        <p:spPr>
          <a:xfrm>
            <a:off x="4368800" y="5016500"/>
            <a:ext cx="1676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10B981"/>
                </a:solidFill>
                <a:latin typeface="Aptos" panose="020B0004020202020204" pitchFamily="34" charset="0"/>
              </a:rPr>
              <a:t>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17D0CB0-D75B-F28D-2DCF-21D65CC91317}"/>
              </a:ext>
            </a:extLst>
          </p:cNvPr>
          <p:cNvSpPr txBox="1"/>
          <p:nvPr/>
        </p:nvSpPr>
        <p:spPr>
          <a:xfrm>
            <a:off x="4368800" y="5461000"/>
            <a:ext cx="1676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Failures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0464F6E9-9C46-3D98-F524-6F9C4E79269F}"/>
              </a:ext>
            </a:extLst>
          </p:cNvPr>
          <p:cNvSpPr/>
          <p:nvPr/>
        </p:nvSpPr>
        <p:spPr>
          <a:xfrm>
            <a:off x="6731000" y="4851400"/>
            <a:ext cx="2032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CD692C-5B9B-B360-3DD5-2EBD802B9C43}"/>
              </a:ext>
            </a:extLst>
          </p:cNvPr>
          <p:cNvSpPr txBox="1"/>
          <p:nvPr/>
        </p:nvSpPr>
        <p:spPr>
          <a:xfrm>
            <a:off x="6908800" y="5016500"/>
            <a:ext cx="1676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10B981"/>
                </a:solidFill>
                <a:latin typeface="Aptos" panose="020B0004020202020204" pitchFamily="34" charset="0"/>
              </a:rPr>
              <a:t>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0D1DC8-A79E-A78E-0F12-390EF2C06807}"/>
              </a:ext>
            </a:extLst>
          </p:cNvPr>
          <p:cNvSpPr txBox="1"/>
          <p:nvPr/>
        </p:nvSpPr>
        <p:spPr>
          <a:xfrm>
            <a:off x="6908800" y="5461000"/>
            <a:ext cx="1676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Errors</a:t>
            </a:r>
          </a:p>
        </p:txBody>
      </p:sp>
    </p:spTree>
    <p:extLst>
      <p:ext uri="{BB962C8B-B14F-4D97-AF65-F5344CB8AC3E}">
        <p14:creationId xmlns:p14="http://schemas.microsoft.com/office/powerpoint/2010/main" val="40704614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3AAF378-7296-6831-055A-2705BA93DF5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E13759-1E9D-52DE-C28D-F2504C59C8C7}"/>
              </a:ext>
            </a:extLst>
          </p:cNvPr>
          <p:cNvSpPr txBox="1"/>
          <p:nvPr/>
        </p:nvSpPr>
        <p:spPr>
          <a:xfrm>
            <a:off x="533400" y="330200"/>
            <a:ext cx="2286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100" b="1">
                <a:solidFill>
                  <a:srgbClr val="10B981"/>
                </a:solidFill>
                <a:latin typeface="Aptos" panose="020B0004020202020204" pitchFamily="34" charset="0"/>
              </a:rPr>
              <a:t>05 / EVIDENCE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232CEC-D23D-668E-E5BE-F194E9229AE1}"/>
              </a:ext>
            </a:extLst>
          </p:cNvPr>
          <p:cNvSpPr txBox="1"/>
          <p:nvPr/>
        </p:nvSpPr>
        <p:spPr>
          <a:xfrm>
            <a:off x="533400" y="660400"/>
            <a:ext cx="9906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F1F5F9"/>
                </a:solidFill>
                <a:latin typeface="Aptos" panose="020B0004020202020204" pitchFamily="34" charset="0"/>
              </a:rPr>
              <a:t>Bằng chứng đo lường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08F4FD-AA77-96CD-2D11-515585CC165F}"/>
              </a:ext>
            </a:extLst>
          </p:cNvPr>
          <p:cNvSpPr txBox="1"/>
          <p:nvPr/>
        </p:nvSpPr>
        <p:spPr>
          <a:xfrm>
            <a:off x="558800" y="1270000"/>
            <a:ext cx="1041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400">
                <a:solidFill>
                  <a:srgbClr val="94A3B8"/>
                </a:solidFill>
                <a:latin typeface="Aptos" panose="020B0004020202020204" pitchFamily="34" charset="0"/>
              </a:rPr>
              <a:t>Phần demo chi tiết có thể chạy trực tiếp hoặc mở video; slide chỉ giữ số liệu chứng minh thiết kế.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7C6557E-B126-3109-2DCF-39AB970D958C}"/>
              </a:ext>
            </a:extLst>
          </p:cNvPr>
          <p:cNvSpPr/>
          <p:nvPr/>
        </p:nvSpPr>
        <p:spPr>
          <a:xfrm>
            <a:off x="533400" y="1600200"/>
            <a:ext cx="111252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1D41953-F90A-EAAC-2128-3980F3BCF957}"/>
              </a:ext>
            </a:extLst>
          </p:cNvPr>
          <p:cNvSpPr/>
          <p:nvPr/>
        </p:nvSpPr>
        <p:spPr>
          <a:xfrm>
            <a:off x="787400" y="2006600"/>
            <a:ext cx="1905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2549381-F0DE-AEAD-33DB-5590DD67A5FE}"/>
              </a:ext>
            </a:extLst>
          </p:cNvPr>
          <p:cNvSpPr txBox="1"/>
          <p:nvPr/>
        </p:nvSpPr>
        <p:spPr>
          <a:xfrm>
            <a:off x="965200" y="2171700"/>
            <a:ext cx="1549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60A5FA"/>
                </a:solidFill>
                <a:latin typeface="Aptos" panose="020B0004020202020204" pitchFamily="34" charset="0"/>
              </a:rPr>
              <a:t>43.84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955929-9112-409E-74E9-B63A46BA7AE9}"/>
              </a:ext>
            </a:extLst>
          </p:cNvPr>
          <p:cNvSpPr txBox="1"/>
          <p:nvPr/>
        </p:nvSpPr>
        <p:spPr>
          <a:xfrm>
            <a:off x="965200" y="2616200"/>
            <a:ext cx="1549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EOS TPS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866795F-0A10-A0B8-7EA8-489306172319}"/>
              </a:ext>
            </a:extLst>
          </p:cNvPr>
          <p:cNvSpPr/>
          <p:nvPr/>
        </p:nvSpPr>
        <p:spPr>
          <a:xfrm>
            <a:off x="2921000" y="2006600"/>
            <a:ext cx="1905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6DEAB10-6183-DF7A-D6A5-D52AF63D6074}"/>
              </a:ext>
            </a:extLst>
          </p:cNvPr>
          <p:cNvSpPr txBox="1"/>
          <p:nvPr/>
        </p:nvSpPr>
        <p:spPr>
          <a:xfrm>
            <a:off x="3098800" y="2171700"/>
            <a:ext cx="1549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F59E0B"/>
                </a:solidFill>
                <a:latin typeface="Aptos" panose="020B0004020202020204" pitchFamily="34" charset="0"/>
              </a:rPr>
              <a:t>45.00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7F51E3C-61CB-3553-66F4-409E29CE16E9}"/>
              </a:ext>
            </a:extLst>
          </p:cNvPr>
          <p:cNvSpPr txBox="1"/>
          <p:nvPr/>
        </p:nvSpPr>
        <p:spPr>
          <a:xfrm>
            <a:off x="3098800" y="2616200"/>
            <a:ext cx="1549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ALO TPS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F7E89FA-872E-60A9-116F-9CEA2221C087}"/>
              </a:ext>
            </a:extLst>
          </p:cNvPr>
          <p:cNvSpPr/>
          <p:nvPr/>
        </p:nvSpPr>
        <p:spPr>
          <a:xfrm>
            <a:off x="5054600" y="2006600"/>
            <a:ext cx="2413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E1F88F-BE50-1BDC-B230-C5CA984FB750}"/>
              </a:ext>
            </a:extLst>
          </p:cNvPr>
          <p:cNvSpPr txBox="1"/>
          <p:nvPr/>
        </p:nvSpPr>
        <p:spPr>
          <a:xfrm>
            <a:off x="5232400" y="2171700"/>
            <a:ext cx="2057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EF4444"/>
                </a:solidFill>
                <a:latin typeface="Aptos" panose="020B0004020202020204" pitchFamily="34" charset="0"/>
              </a:rPr>
              <a:t>0 / 50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CB4E866-8048-9DDC-5694-9595C48945CB}"/>
              </a:ext>
            </a:extLst>
          </p:cNvPr>
          <p:cNvSpPr txBox="1"/>
          <p:nvPr/>
        </p:nvSpPr>
        <p:spPr>
          <a:xfrm>
            <a:off x="5232400" y="2616200"/>
            <a:ext cx="2057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Duplicate charges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8DE042A-455D-5B67-CB3F-E7391F765620}"/>
              </a:ext>
            </a:extLst>
          </p:cNvPr>
          <p:cNvSpPr/>
          <p:nvPr/>
        </p:nvSpPr>
        <p:spPr>
          <a:xfrm>
            <a:off x="7696200" y="2006600"/>
            <a:ext cx="1905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FD15CBF-C891-238E-C661-48F4AA75273F}"/>
              </a:ext>
            </a:extLst>
          </p:cNvPr>
          <p:cNvSpPr txBox="1"/>
          <p:nvPr/>
        </p:nvSpPr>
        <p:spPr>
          <a:xfrm>
            <a:off x="7874000" y="2171700"/>
            <a:ext cx="1549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10B981"/>
                </a:solidFill>
                <a:latin typeface="Aptos" panose="020B0004020202020204" pitchFamily="34" charset="0"/>
              </a:rPr>
              <a:t>50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877010A-DF7A-EB6D-5463-E53D28C83702}"/>
              </a:ext>
            </a:extLst>
          </p:cNvPr>
          <p:cNvSpPr txBox="1"/>
          <p:nvPr/>
        </p:nvSpPr>
        <p:spPr>
          <a:xfrm>
            <a:off x="7874000" y="2616200"/>
            <a:ext cx="1549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Duplicates blocked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48BA4365-EEBD-3DEF-6CDE-E12B3DD48499}"/>
              </a:ext>
            </a:extLst>
          </p:cNvPr>
          <p:cNvSpPr/>
          <p:nvPr/>
        </p:nvSpPr>
        <p:spPr>
          <a:xfrm>
            <a:off x="9829800" y="2006600"/>
            <a:ext cx="1905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9146616-32E4-EA52-1C31-F24FAFF27AAC}"/>
              </a:ext>
            </a:extLst>
          </p:cNvPr>
          <p:cNvSpPr txBox="1"/>
          <p:nvPr/>
        </p:nvSpPr>
        <p:spPr>
          <a:xfrm>
            <a:off x="10007600" y="2171700"/>
            <a:ext cx="1549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22D3EE"/>
                </a:solidFill>
                <a:latin typeface="Aptos" panose="020B0004020202020204" pitchFamily="34" charset="0"/>
              </a:rPr>
              <a:t>110 / 110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BA32D5C-056E-5237-874D-BCB180A9241C}"/>
              </a:ext>
            </a:extLst>
          </p:cNvPr>
          <p:cNvSpPr txBox="1"/>
          <p:nvPr/>
        </p:nvSpPr>
        <p:spPr>
          <a:xfrm>
            <a:off x="10007600" y="2616200"/>
            <a:ext cx="1549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WAL / Success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206B580A-D48E-1E4A-01F8-2729C8BC7143}"/>
              </a:ext>
            </a:extLst>
          </p:cNvPr>
          <p:cNvSpPr/>
          <p:nvPr/>
        </p:nvSpPr>
        <p:spPr>
          <a:xfrm>
            <a:off x="965200" y="3530600"/>
            <a:ext cx="10261600" cy="1200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6FC08D4-D5D9-B926-A93A-6EDB3385BC1E}"/>
              </a:ext>
            </a:extLst>
          </p:cNvPr>
          <p:cNvSpPr txBox="1"/>
          <p:nvPr/>
        </p:nvSpPr>
        <p:spPr>
          <a:xfrm>
            <a:off x="1295400" y="3680000"/>
            <a:ext cx="9000000" cy="3077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600" b="1">
                <a:solidFill>
                  <a:srgbClr val="F1F5F9"/>
                </a:solidFill>
                <a:latin typeface="Aptos" panose="020B0004020202020204" pitchFamily="34" charset="0"/>
              </a:rPr>
              <a:t>Latency avg / p50 / p95 / p99</a:t>
            </a:r>
            <a:endParaRPr lang="vi-VN" sz="1600" b="1">
              <a:solidFill>
                <a:srgbClr val="F1F5F9"/>
              </a:solidFill>
              <a:latin typeface="Aptos" panose="020B0004020202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A371FD1-D94E-930F-EEB7-3D0A6E102699}"/>
              </a:ext>
            </a:extLst>
          </p:cNvPr>
          <p:cNvSpPr txBox="1"/>
          <p:nvPr/>
        </p:nvSpPr>
        <p:spPr>
          <a:xfrm>
            <a:off x="1320800" y="4060000"/>
            <a:ext cx="4572000" cy="2616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ES" sz="1700" b="1">
                <a:solidFill>
                  <a:srgbClr val="10B981"/>
                </a:solidFill>
                <a:latin typeface="Aptos" panose="020B0004020202020204" pitchFamily="34" charset="0"/>
              </a:rPr>
              <a:t>EOS: 10.15 / 10.22 / 18.79 / 30.11 ms</a:t>
            </a:r>
            <a:endParaRPr lang="vi-VN" sz="1700" b="1">
              <a:solidFill>
                <a:srgbClr val="10B981"/>
              </a:solidFill>
              <a:latin typeface="Aptos" panose="020B0004020202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A7891DD-035E-5BD4-58A1-B7ACF7F72127}"/>
              </a:ext>
            </a:extLst>
          </p:cNvPr>
          <p:cNvSpPr txBox="1"/>
          <p:nvPr/>
        </p:nvSpPr>
        <p:spPr>
          <a:xfrm>
            <a:off x="6604000" y="4060000"/>
            <a:ext cx="4191000" cy="2616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fi-FI" sz="1700" b="1">
                <a:solidFill>
                  <a:srgbClr val="F59E0B"/>
                </a:solidFill>
                <a:latin typeface="Aptos" panose="020B0004020202020204" pitchFamily="34" charset="0"/>
              </a:rPr>
              <a:t>ALO: 3.23 / 2.29 / 9.97 / 18.74 ms</a:t>
            </a:r>
            <a:endParaRPr lang="vi-VN" sz="1700" b="1">
              <a:solidFill>
                <a:srgbClr val="F59E0B"/>
              </a:solidFill>
              <a:latin typeface="Aptos" panose="020B0004020202020204" pitchFamily="34" charset="0"/>
            </a:endParaRPr>
          </a:p>
        </p:txBody>
      </p:sp>
      <p:sp>
        <p:nvSpPr>
          <p:cNvPr id="50" name="BottleneckBox"/>
          <p:cNvSpPr/>
          <p:nvPr/>
        </p:nvSpPr>
        <p:spPr>
          <a:xfrm>
            <a:off x="965200" y="4850000"/>
            <a:ext cx="10261600" cy="820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F4444"/>
            </a:solidFill>
          </a:ln>
        </p:spPr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1" name="BottleneckLabel"/>
          <p:cNvSpPr txBox="1"/>
          <p:nvPr/>
        </p:nvSpPr>
        <p:spPr>
          <a:xfrm>
            <a:off x="1270000" y="4880000"/>
            <a:ext cx="2200000" cy="30000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300" b="1">
                <a:solidFill>
                  <a:srgbClr val="EF4444"/>
                </a:solidFill>
                <a:latin typeface="Aptos" panose="020B0004020202020204" pitchFamily="34" charset="0"/>
              </a:rPr>
              <a:t>⚠ Bottleneck Analysis</a:t>
            </a:r>
          </a:p>
        </p:txBody>
      </p:sp>
      <p:sp>
        <p:nvSpPr>
          <p:cNvPr id="52" name="BottleneckText"/>
          <p:cNvSpPr txBox="1"/>
          <p:nvPr/>
        </p:nvSpPr>
        <p:spPr>
          <a:xfrm>
            <a:off x="1270000" y="5190000"/>
            <a:ext cx="9600000" cy="43000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300">
                <a:solidFill>
                  <a:srgbClr val="F1F5F9"/>
                </a:solidFill>
                <a:latin typeface="Aptos" panose="020B0004020202020204" pitchFamily="34" charset="0"/>
              </a:rPr>
              <a:t xml:space="preserve">EOS p99 (30.11ms) cao hơn ALO (18.74ms) </a:t>
            </a:r>
            <a:r>
              <a:rPr lang="en-US" sz="1300" b="1">
                <a:solidFill>
                  <a:srgbClr val="EF4444"/>
                </a:solidFill>
                <a:latin typeface="Aptos" panose="020B0004020202020204" pitchFamily="34" charset="0"/>
              </a:rPr>
              <a:t>1.6×</a:t>
            </a:r>
            <a:r>
              <a:rPr lang="en-US" sz="1300">
                <a:solidFill>
                  <a:srgbClr val="F1F5F9"/>
                </a:solidFill>
                <a:latin typeface="Aptos" panose="020B0004020202020204" pitchFamily="34" charset="0"/>
              </a:rPr>
              <a:t xml:space="preserve"> → overhead tập trung tại </a:t>
            </a:r>
            <a:r>
              <a:rPr lang="en-US" sz="1300" b="1">
                <a:solidFill>
                  <a:srgbClr val="10B981"/>
                </a:solidFill>
                <a:latin typeface="Aptos" panose="020B0004020202020204" pitchFamily="34" charset="0"/>
              </a:rPr>
              <a:t>global dedup claim</a:t>
            </a:r>
            <a:r>
              <a:rPr lang="en-US" sz="1300">
                <a:solidFill>
                  <a:srgbClr val="F1F5F9"/>
                </a:solidFill>
                <a:latin typeface="Aptos" panose="020B0004020202020204" pitchFamily="34" charset="0"/>
              </a:rPr>
              <a:t xml:space="preserve"> + </a:t>
            </a:r>
            <a:r>
              <a:rPr lang="en-US" sz="1300" b="1">
                <a:solidFill>
                  <a:srgbClr val="10B981"/>
                </a:solidFill>
                <a:latin typeface="Aptos" panose="020B0004020202020204" pitchFamily="34" charset="0"/>
              </a:rPr>
              <a:t>WAL write (1.42ms/op)</a:t>
            </a:r>
            <a:r>
              <a:rPr lang="en-US" sz="1300">
                <a:solidFill>
                  <a:srgbClr val="F1F5F9"/>
                </a:solidFill>
                <a:latin typeface="Aptos" panose="020B0004020202020204" pitchFamily="34" charset="0"/>
              </a:rPr>
              <a:t>. Tail latency tăng khi nhiều request tranh claim cùng key.</a:t>
            </a:r>
          </a:p>
        </p:txBody>
      </p:sp>
    </p:spTree>
    <p:extLst>
      <p:ext uri="{BB962C8B-B14F-4D97-AF65-F5344CB8AC3E}">
        <p14:creationId xmlns:p14="http://schemas.microsoft.com/office/powerpoint/2010/main" val="36382703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0B77606-7F8A-8E30-A585-5313DF23B26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1278C1-A502-8186-4553-C2722B8258F3}"/>
              </a:ext>
            </a:extLst>
          </p:cNvPr>
          <p:cNvSpPr txBox="1"/>
          <p:nvPr/>
        </p:nvSpPr>
        <p:spPr>
          <a:xfrm>
            <a:off x="533400" y="330200"/>
            <a:ext cx="2286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100" b="1">
                <a:solidFill>
                  <a:srgbClr val="10B981"/>
                </a:solidFill>
                <a:latin typeface="Aptos" panose="020B0004020202020204" pitchFamily="34" charset="0"/>
              </a:rPr>
              <a:t>05 / WINDOWS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4CA8A3-C2CB-AAFD-FD82-058D37A84F11}"/>
              </a:ext>
            </a:extLst>
          </p:cNvPr>
          <p:cNvSpPr txBox="1"/>
          <p:nvPr/>
        </p:nvSpPr>
        <p:spPr>
          <a:xfrm>
            <a:off x="533400" y="660400"/>
            <a:ext cx="9906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F1F5F9"/>
                </a:solidFill>
                <a:latin typeface="Aptos" panose="020B0004020202020204" pitchFamily="34" charset="0"/>
              </a:rPr>
              <a:t>Bằng chứng event-time window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AADE92-32B0-9300-483C-0538808419A0}"/>
              </a:ext>
            </a:extLst>
          </p:cNvPr>
          <p:cNvSpPr txBox="1"/>
          <p:nvPr/>
        </p:nvSpPr>
        <p:spPr>
          <a:xfrm>
            <a:off x="558800" y="1270000"/>
            <a:ext cx="1041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400">
                <a:solidFill>
                  <a:srgbClr val="94A3B8"/>
                </a:solidFill>
                <a:latin typeface="Aptos" panose="020B0004020202020204" pitchFamily="34" charset="0"/>
              </a:rPr>
              <a:t>TPS và latency theo window dùng để chứng minh benchmark không chỉ đo tổng toàn run.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4D21766-87ED-7108-EC6A-0744F1C42F6F}"/>
              </a:ext>
            </a:extLst>
          </p:cNvPr>
          <p:cNvSpPr/>
          <p:nvPr/>
        </p:nvSpPr>
        <p:spPr>
          <a:xfrm>
            <a:off x="533400" y="1600200"/>
            <a:ext cx="111252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CA74FE1-E2BD-7955-C137-1B36D14BE503}"/>
              </a:ext>
            </a:extLst>
          </p:cNvPr>
          <p:cNvSpPr/>
          <p:nvPr/>
        </p:nvSpPr>
        <p:spPr>
          <a:xfrm>
            <a:off x="787400" y="2032000"/>
            <a:ext cx="2540000" cy="406400"/>
          </a:xfrm>
          <a:prstGeom prst="rect">
            <a:avLst/>
          </a:prstGeom>
          <a:solidFill>
            <a:srgbClr val="334155"/>
          </a:solidFill>
          <a:ln w="1270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F97CD80-E6EF-CF09-4FA1-2ECBBE09190C}"/>
              </a:ext>
            </a:extLst>
          </p:cNvPr>
          <p:cNvSpPr txBox="1"/>
          <p:nvPr/>
        </p:nvSpPr>
        <p:spPr>
          <a:xfrm>
            <a:off x="863600" y="2133600"/>
            <a:ext cx="23876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 b="1">
                <a:solidFill>
                  <a:srgbClr val="F1F5F9"/>
                </a:solidFill>
                <a:latin typeface="Aptos" panose="020B0004020202020204" pitchFamily="34" charset="0"/>
              </a:rPr>
              <a:t>Window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B20CC4A-87B1-C473-80A6-90CCF806CE1E}"/>
              </a:ext>
            </a:extLst>
          </p:cNvPr>
          <p:cNvSpPr/>
          <p:nvPr/>
        </p:nvSpPr>
        <p:spPr>
          <a:xfrm>
            <a:off x="3327400" y="2032000"/>
            <a:ext cx="1371600" cy="406400"/>
          </a:xfrm>
          <a:prstGeom prst="rect">
            <a:avLst/>
          </a:prstGeom>
          <a:solidFill>
            <a:srgbClr val="334155"/>
          </a:solidFill>
          <a:ln w="1270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E3BB19-4EFB-2C21-8BCB-73CF17AA6B21}"/>
              </a:ext>
            </a:extLst>
          </p:cNvPr>
          <p:cNvSpPr txBox="1"/>
          <p:nvPr/>
        </p:nvSpPr>
        <p:spPr>
          <a:xfrm>
            <a:off x="3403600" y="2133600"/>
            <a:ext cx="12192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 b="1">
                <a:solidFill>
                  <a:srgbClr val="F1F5F9"/>
                </a:solidFill>
                <a:latin typeface="Aptos" panose="020B0004020202020204" pitchFamily="34" charset="0"/>
              </a:rPr>
              <a:t>Events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D87B5A7-863F-B15F-BBA8-E43DCC6FD2A4}"/>
              </a:ext>
            </a:extLst>
          </p:cNvPr>
          <p:cNvSpPr/>
          <p:nvPr/>
        </p:nvSpPr>
        <p:spPr>
          <a:xfrm>
            <a:off x="4699000" y="2032000"/>
            <a:ext cx="1485900" cy="406400"/>
          </a:xfrm>
          <a:prstGeom prst="rect">
            <a:avLst/>
          </a:prstGeom>
          <a:solidFill>
            <a:srgbClr val="334155"/>
          </a:solidFill>
          <a:ln w="1270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0B1A9C1-95C1-694D-B481-1BA7E4C9E496}"/>
              </a:ext>
            </a:extLst>
          </p:cNvPr>
          <p:cNvSpPr txBox="1"/>
          <p:nvPr/>
        </p:nvSpPr>
        <p:spPr>
          <a:xfrm>
            <a:off x="4775200" y="2133600"/>
            <a:ext cx="13335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 b="1">
                <a:solidFill>
                  <a:srgbClr val="F1F5F9"/>
                </a:solidFill>
                <a:latin typeface="Aptos" panose="020B0004020202020204" pitchFamily="34" charset="0"/>
              </a:rPr>
              <a:t>EOS TPS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C8E890E-AA56-63B0-7B83-18944FBBBA6E}"/>
              </a:ext>
            </a:extLst>
          </p:cNvPr>
          <p:cNvSpPr/>
          <p:nvPr/>
        </p:nvSpPr>
        <p:spPr>
          <a:xfrm>
            <a:off x="6184900" y="2032000"/>
            <a:ext cx="1905000" cy="406400"/>
          </a:xfrm>
          <a:prstGeom prst="rect">
            <a:avLst/>
          </a:prstGeom>
          <a:solidFill>
            <a:srgbClr val="334155"/>
          </a:solidFill>
          <a:ln w="1270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9010549-A6EB-5121-A287-68B18ADBC5F2}"/>
              </a:ext>
            </a:extLst>
          </p:cNvPr>
          <p:cNvSpPr txBox="1"/>
          <p:nvPr/>
        </p:nvSpPr>
        <p:spPr>
          <a:xfrm>
            <a:off x="6261100" y="2133600"/>
            <a:ext cx="17526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 b="1">
                <a:solidFill>
                  <a:srgbClr val="F1F5F9"/>
                </a:solidFill>
                <a:latin typeface="Aptos" panose="020B0004020202020204" pitchFamily="34" charset="0"/>
              </a:rPr>
              <a:t>EOS avg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00FAF88-F95E-E46E-12DA-CD3705476506}"/>
              </a:ext>
            </a:extLst>
          </p:cNvPr>
          <p:cNvSpPr/>
          <p:nvPr/>
        </p:nvSpPr>
        <p:spPr>
          <a:xfrm>
            <a:off x="8089900" y="2032000"/>
            <a:ext cx="1485900" cy="406400"/>
          </a:xfrm>
          <a:prstGeom prst="rect">
            <a:avLst/>
          </a:prstGeom>
          <a:solidFill>
            <a:srgbClr val="334155"/>
          </a:solidFill>
          <a:ln w="1270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C90F305-AF76-27A2-9518-85ACD2FC4F79}"/>
              </a:ext>
            </a:extLst>
          </p:cNvPr>
          <p:cNvSpPr txBox="1"/>
          <p:nvPr/>
        </p:nvSpPr>
        <p:spPr>
          <a:xfrm>
            <a:off x="8166100" y="2133600"/>
            <a:ext cx="13335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 b="1">
                <a:solidFill>
                  <a:srgbClr val="F1F5F9"/>
                </a:solidFill>
                <a:latin typeface="Aptos" panose="020B0004020202020204" pitchFamily="34" charset="0"/>
              </a:rPr>
              <a:t>ALO TPS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263AF7E-6CBC-6B38-F872-35749F6E0457}"/>
              </a:ext>
            </a:extLst>
          </p:cNvPr>
          <p:cNvSpPr/>
          <p:nvPr/>
        </p:nvSpPr>
        <p:spPr>
          <a:xfrm>
            <a:off x="9575800" y="2032000"/>
            <a:ext cx="1803400" cy="406400"/>
          </a:xfrm>
          <a:prstGeom prst="rect">
            <a:avLst/>
          </a:prstGeom>
          <a:solidFill>
            <a:srgbClr val="334155"/>
          </a:solidFill>
          <a:ln w="1270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6747005-FD1E-8B14-FCB5-6CC5FD54EB2D}"/>
              </a:ext>
            </a:extLst>
          </p:cNvPr>
          <p:cNvSpPr txBox="1"/>
          <p:nvPr/>
        </p:nvSpPr>
        <p:spPr>
          <a:xfrm>
            <a:off x="9652000" y="2133600"/>
            <a:ext cx="16510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 b="1">
                <a:solidFill>
                  <a:srgbClr val="F1F5F9"/>
                </a:solidFill>
                <a:latin typeface="Aptos" panose="020B0004020202020204" pitchFamily="34" charset="0"/>
              </a:rPr>
              <a:t>ALO avg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660A9D5-D525-69BF-E75F-70C683C62FDF}"/>
              </a:ext>
            </a:extLst>
          </p:cNvPr>
          <p:cNvSpPr/>
          <p:nvPr/>
        </p:nvSpPr>
        <p:spPr>
          <a:xfrm>
            <a:off x="787400" y="2438400"/>
            <a:ext cx="2540000" cy="4064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1AC4FF6-E865-A734-F16C-BCEDBFCBFF44}"/>
              </a:ext>
            </a:extLst>
          </p:cNvPr>
          <p:cNvSpPr txBox="1"/>
          <p:nvPr/>
        </p:nvSpPr>
        <p:spPr>
          <a:xfrm>
            <a:off x="863600" y="2540000"/>
            <a:ext cx="23876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F1F5F9"/>
                </a:solidFill>
                <a:latin typeface="Aptos" panose="020B0004020202020204" pitchFamily="34" charset="0"/>
              </a:rPr>
              <a:t>20:15:50-20:16:00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B99E312-959B-FB65-CD54-99C90853BB29}"/>
              </a:ext>
            </a:extLst>
          </p:cNvPr>
          <p:cNvSpPr/>
          <p:nvPr/>
        </p:nvSpPr>
        <p:spPr>
          <a:xfrm>
            <a:off x="3327400" y="2438400"/>
            <a:ext cx="1371600" cy="4064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AAFC924-1446-5079-2FDE-C42A1805F355}"/>
              </a:ext>
            </a:extLst>
          </p:cNvPr>
          <p:cNvSpPr txBox="1"/>
          <p:nvPr/>
        </p:nvSpPr>
        <p:spPr>
          <a:xfrm>
            <a:off x="3403600" y="2540000"/>
            <a:ext cx="12192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F1F5F9"/>
                </a:solidFill>
                <a:latin typeface="Aptos" panose="020B0004020202020204" pitchFamily="34" charset="0"/>
              </a:rPr>
              <a:t>15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B005382-77F6-899C-9190-333E0CDD08AB}"/>
              </a:ext>
            </a:extLst>
          </p:cNvPr>
          <p:cNvSpPr/>
          <p:nvPr/>
        </p:nvSpPr>
        <p:spPr>
          <a:xfrm>
            <a:off x="4699000" y="2438400"/>
            <a:ext cx="1485900" cy="4064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481F2BD-8D86-1B10-1CF4-77BEB5351ACA}"/>
              </a:ext>
            </a:extLst>
          </p:cNvPr>
          <p:cNvSpPr txBox="1"/>
          <p:nvPr/>
        </p:nvSpPr>
        <p:spPr>
          <a:xfrm>
            <a:off x="4775200" y="2540000"/>
            <a:ext cx="13335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F1F5F9"/>
                </a:solidFill>
                <a:latin typeface="Aptos" panose="020B0004020202020204" pitchFamily="34" charset="0"/>
              </a:rPr>
              <a:t>1.50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11B0DF3-94EE-BA95-901D-9DE31E20F216}"/>
              </a:ext>
            </a:extLst>
          </p:cNvPr>
          <p:cNvSpPr/>
          <p:nvPr/>
        </p:nvSpPr>
        <p:spPr>
          <a:xfrm>
            <a:off x="6184900" y="2438400"/>
            <a:ext cx="1905000" cy="4064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A54A2C2-0AFA-4DAF-2669-AD02CCB07991}"/>
              </a:ext>
            </a:extLst>
          </p:cNvPr>
          <p:cNvSpPr txBox="1"/>
          <p:nvPr/>
        </p:nvSpPr>
        <p:spPr>
          <a:xfrm>
            <a:off x="6261100" y="2540000"/>
            <a:ext cx="17526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F1F5F9"/>
                </a:solidFill>
                <a:latin typeface="Aptos" panose="020B0004020202020204" pitchFamily="34" charset="0"/>
              </a:rPr>
              <a:t>12.58ms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FEA5010-AF3E-B242-5E04-45FE1B6577DC}"/>
              </a:ext>
            </a:extLst>
          </p:cNvPr>
          <p:cNvSpPr/>
          <p:nvPr/>
        </p:nvSpPr>
        <p:spPr>
          <a:xfrm>
            <a:off x="8089900" y="2438400"/>
            <a:ext cx="1485900" cy="4064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E242F5B-67E6-9FD4-3077-78DDA6E3D664}"/>
              </a:ext>
            </a:extLst>
          </p:cNvPr>
          <p:cNvSpPr txBox="1"/>
          <p:nvPr/>
        </p:nvSpPr>
        <p:spPr>
          <a:xfrm>
            <a:off x="8166100" y="2540000"/>
            <a:ext cx="13335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F1F5F9"/>
                </a:solidFill>
                <a:latin typeface="Aptos" panose="020B0004020202020204" pitchFamily="34" charset="0"/>
              </a:rPr>
              <a:t>1.50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A6E3126-9216-BFA0-F4FB-5D77343FB6FF}"/>
              </a:ext>
            </a:extLst>
          </p:cNvPr>
          <p:cNvSpPr/>
          <p:nvPr/>
        </p:nvSpPr>
        <p:spPr>
          <a:xfrm>
            <a:off x="9575800" y="2438400"/>
            <a:ext cx="1803400" cy="4064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59C5FFC-CFE4-6E65-21F6-24BCB871DBD2}"/>
              </a:ext>
            </a:extLst>
          </p:cNvPr>
          <p:cNvSpPr txBox="1"/>
          <p:nvPr/>
        </p:nvSpPr>
        <p:spPr>
          <a:xfrm>
            <a:off x="9652000" y="2540000"/>
            <a:ext cx="16510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F1F5F9"/>
                </a:solidFill>
                <a:latin typeface="Aptos" panose="020B0004020202020204" pitchFamily="34" charset="0"/>
              </a:rPr>
              <a:t>3.71ms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F47D8EB-3FA6-360E-9694-C0EC69DF5E4F}"/>
              </a:ext>
            </a:extLst>
          </p:cNvPr>
          <p:cNvSpPr/>
          <p:nvPr/>
        </p:nvSpPr>
        <p:spPr>
          <a:xfrm>
            <a:off x="787400" y="2844800"/>
            <a:ext cx="2540000" cy="4064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69D510C-395C-A679-E72B-2DD52E77FD08}"/>
              </a:ext>
            </a:extLst>
          </p:cNvPr>
          <p:cNvSpPr txBox="1"/>
          <p:nvPr/>
        </p:nvSpPr>
        <p:spPr>
          <a:xfrm>
            <a:off x="863600" y="2946400"/>
            <a:ext cx="23876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F1F5F9"/>
                </a:solidFill>
                <a:latin typeface="Aptos" panose="020B0004020202020204" pitchFamily="34" charset="0"/>
              </a:rPr>
              <a:t>20:16:00-20:16:10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9ED3E5E-0C10-513E-8128-D05A8881D770}"/>
              </a:ext>
            </a:extLst>
          </p:cNvPr>
          <p:cNvSpPr/>
          <p:nvPr/>
        </p:nvSpPr>
        <p:spPr>
          <a:xfrm>
            <a:off x="3327400" y="2844800"/>
            <a:ext cx="1371600" cy="4064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904CC63-0580-4759-7B8B-01C2BEB9C51C}"/>
              </a:ext>
            </a:extLst>
          </p:cNvPr>
          <p:cNvSpPr txBox="1"/>
          <p:nvPr/>
        </p:nvSpPr>
        <p:spPr>
          <a:xfrm>
            <a:off x="3403600" y="2946400"/>
            <a:ext cx="12192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F1F5F9"/>
                </a:solidFill>
                <a:latin typeface="Aptos" panose="020B0004020202020204" pitchFamily="34" charset="0"/>
              </a:rPr>
              <a:t>36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78AB5FF-2199-EE29-BB8B-7604B5446F7C}"/>
              </a:ext>
            </a:extLst>
          </p:cNvPr>
          <p:cNvSpPr/>
          <p:nvPr/>
        </p:nvSpPr>
        <p:spPr>
          <a:xfrm>
            <a:off x="4699000" y="2844800"/>
            <a:ext cx="1485900" cy="4064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FDB7224-5D99-449F-C067-2BB4911E6F9A}"/>
              </a:ext>
            </a:extLst>
          </p:cNvPr>
          <p:cNvSpPr txBox="1"/>
          <p:nvPr/>
        </p:nvSpPr>
        <p:spPr>
          <a:xfrm>
            <a:off x="4775200" y="2946400"/>
            <a:ext cx="13335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F1F5F9"/>
                </a:solidFill>
                <a:latin typeface="Aptos" panose="020B0004020202020204" pitchFamily="34" charset="0"/>
              </a:rPr>
              <a:t>3.60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4EC4EDE-D56F-39D2-7636-FD66732DB369}"/>
              </a:ext>
            </a:extLst>
          </p:cNvPr>
          <p:cNvSpPr/>
          <p:nvPr/>
        </p:nvSpPr>
        <p:spPr>
          <a:xfrm>
            <a:off x="6184900" y="2844800"/>
            <a:ext cx="1905000" cy="4064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A45D0AA-255A-B475-0867-519D00769C69}"/>
              </a:ext>
            </a:extLst>
          </p:cNvPr>
          <p:cNvSpPr txBox="1"/>
          <p:nvPr/>
        </p:nvSpPr>
        <p:spPr>
          <a:xfrm>
            <a:off x="6261100" y="2946400"/>
            <a:ext cx="17526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F1F5F9"/>
                </a:solidFill>
                <a:latin typeface="Aptos" panose="020B0004020202020204" pitchFamily="34" charset="0"/>
              </a:rPr>
              <a:t>9.78ms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00A6A03-D6E7-A633-B070-CE350EDCBB5A}"/>
              </a:ext>
            </a:extLst>
          </p:cNvPr>
          <p:cNvSpPr/>
          <p:nvPr/>
        </p:nvSpPr>
        <p:spPr>
          <a:xfrm>
            <a:off x="8089900" y="2844800"/>
            <a:ext cx="1485900" cy="4064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E6F58F5-AB56-0CA8-FEEC-0AB55FED3F58}"/>
              </a:ext>
            </a:extLst>
          </p:cNvPr>
          <p:cNvSpPr txBox="1"/>
          <p:nvPr/>
        </p:nvSpPr>
        <p:spPr>
          <a:xfrm>
            <a:off x="8166100" y="2946400"/>
            <a:ext cx="13335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F1F5F9"/>
                </a:solidFill>
                <a:latin typeface="Aptos" panose="020B0004020202020204" pitchFamily="34" charset="0"/>
              </a:rPr>
              <a:t>3.60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2F11C76-03C9-9623-25DB-FD5B8058D7FC}"/>
              </a:ext>
            </a:extLst>
          </p:cNvPr>
          <p:cNvSpPr/>
          <p:nvPr/>
        </p:nvSpPr>
        <p:spPr>
          <a:xfrm>
            <a:off x="9575800" y="2844800"/>
            <a:ext cx="1803400" cy="4064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3EBBCE3-7982-E927-AD31-D13E83710619}"/>
              </a:ext>
            </a:extLst>
          </p:cNvPr>
          <p:cNvSpPr txBox="1"/>
          <p:nvPr/>
        </p:nvSpPr>
        <p:spPr>
          <a:xfrm>
            <a:off x="9652000" y="2946400"/>
            <a:ext cx="16510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F1F5F9"/>
                </a:solidFill>
                <a:latin typeface="Aptos" panose="020B0004020202020204" pitchFamily="34" charset="0"/>
              </a:rPr>
              <a:t>5.82ms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2AF8BB5-4071-9645-E5A1-34426F0572A6}"/>
              </a:ext>
            </a:extLst>
          </p:cNvPr>
          <p:cNvSpPr/>
          <p:nvPr/>
        </p:nvSpPr>
        <p:spPr>
          <a:xfrm>
            <a:off x="787400" y="3251200"/>
            <a:ext cx="2540000" cy="4064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AD9D874-6507-3860-2EF1-54BC3EBF5328}"/>
              </a:ext>
            </a:extLst>
          </p:cNvPr>
          <p:cNvSpPr txBox="1"/>
          <p:nvPr/>
        </p:nvSpPr>
        <p:spPr>
          <a:xfrm>
            <a:off x="863600" y="3352800"/>
            <a:ext cx="23876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F1F5F9"/>
                </a:solidFill>
                <a:latin typeface="Aptos" panose="020B0004020202020204" pitchFamily="34" charset="0"/>
              </a:rPr>
              <a:t>20:16:10-20:16:20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2F606DF9-C131-5C0F-AF59-B06172BF9DDF}"/>
              </a:ext>
            </a:extLst>
          </p:cNvPr>
          <p:cNvSpPr/>
          <p:nvPr/>
        </p:nvSpPr>
        <p:spPr>
          <a:xfrm>
            <a:off x="3327400" y="3251200"/>
            <a:ext cx="1371600" cy="4064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C227097-0AFB-0496-47E9-385DE2B9C0C4}"/>
              </a:ext>
            </a:extLst>
          </p:cNvPr>
          <p:cNvSpPr txBox="1"/>
          <p:nvPr/>
        </p:nvSpPr>
        <p:spPr>
          <a:xfrm>
            <a:off x="3403600" y="3352800"/>
            <a:ext cx="12192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F1F5F9"/>
                </a:solidFill>
                <a:latin typeface="Aptos" panose="020B0004020202020204" pitchFamily="34" charset="0"/>
              </a:rPr>
              <a:t>43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86B4B8F5-EEB8-CC7E-5852-95BE51C8A4E9}"/>
              </a:ext>
            </a:extLst>
          </p:cNvPr>
          <p:cNvSpPr/>
          <p:nvPr/>
        </p:nvSpPr>
        <p:spPr>
          <a:xfrm>
            <a:off x="4699000" y="3251200"/>
            <a:ext cx="1485900" cy="4064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B501B61-8FA0-CA11-9009-FC0EB902EDC5}"/>
              </a:ext>
            </a:extLst>
          </p:cNvPr>
          <p:cNvSpPr txBox="1"/>
          <p:nvPr/>
        </p:nvSpPr>
        <p:spPr>
          <a:xfrm>
            <a:off x="4775200" y="3352800"/>
            <a:ext cx="13335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F1F5F9"/>
                </a:solidFill>
                <a:latin typeface="Aptos" panose="020B0004020202020204" pitchFamily="34" charset="0"/>
              </a:rPr>
              <a:t>4.30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E786F8D0-F761-B815-88B4-0615E521E072}"/>
              </a:ext>
            </a:extLst>
          </p:cNvPr>
          <p:cNvSpPr/>
          <p:nvPr/>
        </p:nvSpPr>
        <p:spPr>
          <a:xfrm>
            <a:off x="6184900" y="3251200"/>
            <a:ext cx="1905000" cy="4064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6540A05-67D5-E1E9-BFB2-21CFEC133648}"/>
              </a:ext>
            </a:extLst>
          </p:cNvPr>
          <p:cNvSpPr txBox="1"/>
          <p:nvPr/>
        </p:nvSpPr>
        <p:spPr>
          <a:xfrm>
            <a:off x="6261100" y="3352800"/>
            <a:ext cx="17526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F1F5F9"/>
                </a:solidFill>
                <a:latin typeface="Aptos" panose="020B0004020202020204" pitchFamily="34" charset="0"/>
              </a:rPr>
              <a:t>11.06ms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0D115793-C903-9496-D311-4CAE7E347EF7}"/>
              </a:ext>
            </a:extLst>
          </p:cNvPr>
          <p:cNvSpPr/>
          <p:nvPr/>
        </p:nvSpPr>
        <p:spPr>
          <a:xfrm>
            <a:off x="8089900" y="3251200"/>
            <a:ext cx="1485900" cy="4064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F188ECC-9764-36DC-8006-7CFD29FBFA69}"/>
              </a:ext>
            </a:extLst>
          </p:cNvPr>
          <p:cNvSpPr txBox="1"/>
          <p:nvPr/>
        </p:nvSpPr>
        <p:spPr>
          <a:xfrm>
            <a:off x="8166100" y="3352800"/>
            <a:ext cx="13335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F1F5F9"/>
                </a:solidFill>
                <a:latin typeface="Aptos" panose="020B0004020202020204" pitchFamily="34" charset="0"/>
              </a:rPr>
              <a:t>4.30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1995B0A0-FF42-0162-34F2-25AD223597A9}"/>
              </a:ext>
            </a:extLst>
          </p:cNvPr>
          <p:cNvSpPr/>
          <p:nvPr/>
        </p:nvSpPr>
        <p:spPr>
          <a:xfrm>
            <a:off x="9575800" y="3251200"/>
            <a:ext cx="1803400" cy="4064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BE829BE-EA8B-F592-FC7E-48FE9D6DF87E}"/>
              </a:ext>
            </a:extLst>
          </p:cNvPr>
          <p:cNvSpPr txBox="1"/>
          <p:nvPr/>
        </p:nvSpPr>
        <p:spPr>
          <a:xfrm>
            <a:off x="9652000" y="3352800"/>
            <a:ext cx="16510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F1F5F9"/>
                </a:solidFill>
                <a:latin typeface="Aptos" panose="020B0004020202020204" pitchFamily="34" charset="0"/>
              </a:rPr>
              <a:t>3.32ms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BE0AE6C-18F4-85A3-1448-97DD71B81BE7}"/>
              </a:ext>
            </a:extLst>
          </p:cNvPr>
          <p:cNvSpPr/>
          <p:nvPr/>
        </p:nvSpPr>
        <p:spPr>
          <a:xfrm>
            <a:off x="787400" y="3657600"/>
            <a:ext cx="2540000" cy="4064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A4D21D3-C3EC-A6B8-A9ED-882B702D2AD1}"/>
              </a:ext>
            </a:extLst>
          </p:cNvPr>
          <p:cNvSpPr txBox="1"/>
          <p:nvPr/>
        </p:nvSpPr>
        <p:spPr>
          <a:xfrm>
            <a:off x="863600" y="3759200"/>
            <a:ext cx="23876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F1F5F9"/>
                </a:solidFill>
                <a:latin typeface="Aptos" panose="020B0004020202020204" pitchFamily="34" charset="0"/>
              </a:rPr>
              <a:t>20:16:20-20:16:30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E86833C3-8ECA-84E4-7FEF-4366C2BBD6A9}"/>
              </a:ext>
            </a:extLst>
          </p:cNvPr>
          <p:cNvSpPr/>
          <p:nvPr/>
        </p:nvSpPr>
        <p:spPr>
          <a:xfrm>
            <a:off x="3327400" y="3657600"/>
            <a:ext cx="1371600" cy="4064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1401F37-3968-CA0C-8555-B0BEF2A80899}"/>
              </a:ext>
            </a:extLst>
          </p:cNvPr>
          <p:cNvSpPr txBox="1"/>
          <p:nvPr/>
        </p:nvSpPr>
        <p:spPr>
          <a:xfrm>
            <a:off x="3403600" y="3759200"/>
            <a:ext cx="12192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F1F5F9"/>
                </a:solidFill>
                <a:latin typeface="Aptos" panose="020B0004020202020204" pitchFamily="34" charset="0"/>
              </a:rPr>
              <a:t>38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46AE130-E7EB-E96C-E790-223325A99C88}"/>
              </a:ext>
            </a:extLst>
          </p:cNvPr>
          <p:cNvSpPr/>
          <p:nvPr/>
        </p:nvSpPr>
        <p:spPr>
          <a:xfrm>
            <a:off x="4699000" y="3657600"/>
            <a:ext cx="1485900" cy="4064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E59062C-2BB8-3A2F-D611-A013BA0BA8AA}"/>
              </a:ext>
            </a:extLst>
          </p:cNvPr>
          <p:cNvSpPr txBox="1"/>
          <p:nvPr/>
        </p:nvSpPr>
        <p:spPr>
          <a:xfrm>
            <a:off x="4775200" y="3759200"/>
            <a:ext cx="13335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F1F5F9"/>
                </a:solidFill>
                <a:latin typeface="Aptos" panose="020B0004020202020204" pitchFamily="34" charset="0"/>
              </a:rPr>
              <a:t>3.80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F0C62939-9AC7-3B40-A560-79D43CBBE854}"/>
              </a:ext>
            </a:extLst>
          </p:cNvPr>
          <p:cNvSpPr/>
          <p:nvPr/>
        </p:nvSpPr>
        <p:spPr>
          <a:xfrm>
            <a:off x="6184900" y="3657600"/>
            <a:ext cx="1905000" cy="4064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3CF2B55-FDF5-7430-5538-CDF5D1700922}"/>
              </a:ext>
            </a:extLst>
          </p:cNvPr>
          <p:cNvSpPr txBox="1"/>
          <p:nvPr/>
        </p:nvSpPr>
        <p:spPr>
          <a:xfrm>
            <a:off x="6261100" y="3759200"/>
            <a:ext cx="17526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F1F5F9"/>
                </a:solidFill>
                <a:latin typeface="Aptos" panose="020B0004020202020204" pitchFamily="34" charset="0"/>
              </a:rPr>
              <a:t>9.08ms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B620F887-DEA0-25BC-29EC-1B001539F0EB}"/>
              </a:ext>
            </a:extLst>
          </p:cNvPr>
          <p:cNvSpPr/>
          <p:nvPr/>
        </p:nvSpPr>
        <p:spPr>
          <a:xfrm>
            <a:off x="8089900" y="3657600"/>
            <a:ext cx="1485900" cy="4064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1695484-3BFD-4725-1C2A-64CFF1E9B2B5}"/>
              </a:ext>
            </a:extLst>
          </p:cNvPr>
          <p:cNvSpPr txBox="1"/>
          <p:nvPr/>
        </p:nvSpPr>
        <p:spPr>
          <a:xfrm>
            <a:off x="8166100" y="3759200"/>
            <a:ext cx="13335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F1F5F9"/>
                </a:solidFill>
                <a:latin typeface="Aptos" panose="020B0004020202020204" pitchFamily="34" charset="0"/>
              </a:rPr>
              <a:t>3.80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E53026E9-54C0-0900-65AB-9FE62563D170}"/>
              </a:ext>
            </a:extLst>
          </p:cNvPr>
          <p:cNvSpPr/>
          <p:nvPr/>
        </p:nvSpPr>
        <p:spPr>
          <a:xfrm>
            <a:off x="9575800" y="3657600"/>
            <a:ext cx="1803400" cy="4064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8EA182F-936D-D0A6-F28A-055C3A269227}"/>
              </a:ext>
            </a:extLst>
          </p:cNvPr>
          <p:cNvSpPr txBox="1"/>
          <p:nvPr/>
        </p:nvSpPr>
        <p:spPr>
          <a:xfrm>
            <a:off x="9652000" y="3759200"/>
            <a:ext cx="16510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F1F5F9"/>
                </a:solidFill>
                <a:latin typeface="Aptos" panose="020B0004020202020204" pitchFamily="34" charset="0"/>
              </a:rPr>
              <a:t>1.89ms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D933B928-0402-8686-43BE-5A4F007F2A46}"/>
              </a:ext>
            </a:extLst>
          </p:cNvPr>
          <p:cNvSpPr/>
          <p:nvPr/>
        </p:nvSpPr>
        <p:spPr>
          <a:xfrm>
            <a:off x="787400" y="4064000"/>
            <a:ext cx="2540000" cy="4064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4A1C39D-8E4D-1EA6-5850-D3B5960337E0}"/>
              </a:ext>
            </a:extLst>
          </p:cNvPr>
          <p:cNvSpPr txBox="1"/>
          <p:nvPr/>
        </p:nvSpPr>
        <p:spPr>
          <a:xfrm>
            <a:off x="863600" y="4165600"/>
            <a:ext cx="23876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F1F5F9"/>
                </a:solidFill>
                <a:latin typeface="Aptos" panose="020B0004020202020204" pitchFamily="34" charset="0"/>
              </a:rPr>
              <a:t>20:16:30-20:16:40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ED738366-F8D6-F4A6-0840-98D15FB3105D}"/>
              </a:ext>
            </a:extLst>
          </p:cNvPr>
          <p:cNvSpPr/>
          <p:nvPr/>
        </p:nvSpPr>
        <p:spPr>
          <a:xfrm>
            <a:off x="3327400" y="4064000"/>
            <a:ext cx="1371600" cy="4064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5BCBEEF-889F-B39E-8F11-E0432153EED4}"/>
              </a:ext>
            </a:extLst>
          </p:cNvPr>
          <p:cNvSpPr txBox="1"/>
          <p:nvPr/>
        </p:nvSpPr>
        <p:spPr>
          <a:xfrm>
            <a:off x="3403600" y="4165600"/>
            <a:ext cx="12192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F1F5F9"/>
                </a:solidFill>
                <a:latin typeface="Aptos" panose="020B0004020202020204" pitchFamily="34" charset="0"/>
              </a:rPr>
              <a:t>28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E4423BC4-F0B8-9279-B2F5-E599900231A2}"/>
              </a:ext>
            </a:extLst>
          </p:cNvPr>
          <p:cNvSpPr/>
          <p:nvPr/>
        </p:nvSpPr>
        <p:spPr>
          <a:xfrm>
            <a:off x="4699000" y="4064000"/>
            <a:ext cx="1485900" cy="4064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527CE53-88E0-7CB4-C1ED-C486F3C6572B}"/>
              </a:ext>
            </a:extLst>
          </p:cNvPr>
          <p:cNvSpPr txBox="1"/>
          <p:nvPr/>
        </p:nvSpPr>
        <p:spPr>
          <a:xfrm>
            <a:off x="4775200" y="4165600"/>
            <a:ext cx="13335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F1F5F9"/>
                </a:solidFill>
                <a:latin typeface="Aptos" panose="020B0004020202020204" pitchFamily="34" charset="0"/>
              </a:rPr>
              <a:t>2.80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94D8F0C9-7B64-D262-60B4-5348892621CA}"/>
              </a:ext>
            </a:extLst>
          </p:cNvPr>
          <p:cNvSpPr/>
          <p:nvPr/>
        </p:nvSpPr>
        <p:spPr>
          <a:xfrm>
            <a:off x="6184900" y="4064000"/>
            <a:ext cx="1905000" cy="4064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240BE62-20D1-0013-9ED0-A8FBA60DB737}"/>
              </a:ext>
            </a:extLst>
          </p:cNvPr>
          <p:cNvSpPr txBox="1"/>
          <p:nvPr/>
        </p:nvSpPr>
        <p:spPr>
          <a:xfrm>
            <a:off x="6261100" y="4165600"/>
            <a:ext cx="17526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F1F5F9"/>
                </a:solidFill>
                <a:latin typeface="Aptos" panose="020B0004020202020204" pitchFamily="34" charset="0"/>
              </a:rPr>
              <a:t>9.39ms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4C6E84EF-C17B-9162-6D61-7745423A5056}"/>
              </a:ext>
            </a:extLst>
          </p:cNvPr>
          <p:cNvSpPr/>
          <p:nvPr/>
        </p:nvSpPr>
        <p:spPr>
          <a:xfrm>
            <a:off x="8089900" y="4064000"/>
            <a:ext cx="1485900" cy="4064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916B0DE-A530-3E95-E549-7271A33640AA}"/>
              </a:ext>
            </a:extLst>
          </p:cNvPr>
          <p:cNvSpPr txBox="1"/>
          <p:nvPr/>
        </p:nvSpPr>
        <p:spPr>
          <a:xfrm>
            <a:off x="8166100" y="4165600"/>
            <a:ext cx="13335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F1F5F9"/>
                </a:solidFill>
                <a:latin typeface="Aptos" panose="020B0004020202020204" pitchFamily="34" charset="0"/>
              </a:rPr>
              <a:t>2.80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8D26E210-B1EA-C797-A765-0D690327E91D}"/>
              </a:ext>
            </a:extLst>
          </p:cNvPr>
          <p:cNvSpPr/>
          <p:nvPr/>
        </p:nvSpPr>
        <p:spPr>
          <a:xfrm>
            <a:off x="9575800" y="4064000"/>
            <a:ext cx="1803400" cy="4064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1A93232-9B4F-6967-547A-262D419A3EF7}"/>
              </a:ext>
            </a:extLst>
          </p:cNvPr>
          <p:cNvSpPr txBox="1"/>
          <p:nvPr/>
        </p:nvSpPr>
        <p:spPr>
          <a:xfrm>
            <a:off x="9652000" y="4165600"/>
            <a:ext cx="16510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F1F5F9"/>
                </a:solidFill>
                <a:latin typeface="Aptos" panose="020B0004020202020204" pitchFamily="34" charset="0"/>
              </a:rPr>
              <a:t>1.34ms</a:t>
            </a:r>
          </a:p>
        </p:txBody>
      </p:sp>
    </p:spTree>
    <p:extLst>
      <p:ext uri="{BB962C8B-B14F-4D97-AF65-F5344CB8AC3E}">
        <p14:creationId xmlns:p14="http://schemas.microsoft.com/office/powerpoint/2010/main" val="38456123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3D4E9A2-6104-6773-53C7-745D1488741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01C286-2A04-14DC-A97D-2E846B0875D7}"/>
              </a:ext>
            </a:extLst>
          </p:cNvPr>
          <p:cNvSpPr txBox="1"/>
          <p:nvPr/>
        </p:nvSpPr>
        <p:spPr>
          <a:xfrm>
            <a:off x="533400" y="330200"/>
            <a:ext cx="2286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100" b="1">
                <a:solidFill>
                  <a:srgbClr val="10B981"/>
                </a:solidFill>
                <a:latin typeface="Aptos" panose="020B0004020202020204" pitchFamily="34" charset="0"/>
              </a:rPr>
              <a:t>05 / LIVE DEMO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B3D4CF-EAB9-4A46-FA1C-DCDBB13D531A}"/>
              </a:ext>
            </a:extLst>
          </p:cNvPr>
          <p:cNvSpPr txBox="1"/>
          <p:nvPr/>
        </p:nvSpPr>
        <p:spPr>
          <a:xfrm>
            <a:off x="533400" y="660400"/>
            <a:ext cx="9906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F1F5F9"/>
                </a:solidFill>
                <a:latin typeface="Aptos" panose="020B0004020202020204" pitchFamily="34" charset="0"/>
              </a:rPr>
              <a:t>Kịch bản demo trực tiếp hoặc video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C90BCC5-A6C1-E4C3-D26F-06EEA7B16400}"/>
              </a:ext>
            </a:extLst>
          </p:cNvPr>
          <p:cNvSpPr txBox="1"/>
          <p:nvPr/>
        </p:nvSpPr>
        <p:spPr>
          <a:xfrm>
            <a:off x="558800" y="1270000"/>
            <a:ext cx="1041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400">
                <a:solidFill>
                  <a:srgbClr val="94A3B8"/>
                </a:solidFill>
                <a:latin typeface="Aptos" panose="020B0004020202020204" pitchFamily="34" charset="0"/>
              </a:rPr>
              <a:t>Slide này chỉ là checklist thao tác; không cần trình bày dài nếu đã có video/chạy live.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B7D7574-1300-C0A5-75B5-3A6BF5418569}"/>
              </a:ext>
            </a:extLst>
          </p:cNvPr>
          <p:cNvSpPr/>
          <p:nvPr/>
        </p:nvSpPr>
        <p:spPr>
          <a:xfrm>
            <a:off x="533400" y="1600200"/>
            <a:ext cx="111252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03D2F0-A540-D609-CF1B-DF3B278F9510}"/>
              </a:ext>
            </a:extLst>
          </p:cNvPr>
          <p:cNvSpPr txBox="1"/>
          <p:nvPr/>
        </p:nvSpPr>
        <p:spPr>
          <a:xfrm>
            <a:off x="1143000" y="2006600"/>
            <a:ext cx="10033000" cy="1661993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>
                <a:solidFill>
                  <a:srgbClr val="F1F5F9"/>
                </a:solidFill>
                <a:latin typeface="Aptos" panose="020B0004020202020204" pitchFamily="34" charset="0"/>
              </a:rPr>
              <a:t>• 1. Mở http://localhost:8080, xác nhận Gateway và 3 node ACTIVE.
• 2. Run Compare với 160 events, duplicate 30%, window 10s.
• 3. Chỉ vào Duplicate Charges 0/50, Duplicates Blocked 50 và WAL / Success 100%.
• 4. Chạy Retry Sim EOS để chứng minh duplicate cross-node bị reject.
• 5. Toggle một node FAILED để thấy payment tới node đó bị reject.
• 6. Bấm Replay WAL để demo recovery endpoint.</a:t>
            </a:r>
          </a:p>
        </p:txBody>
      </p:sp>
    </p:spTree>
    <p:extLst>
      <p:ext uri="{BB962C8B-B14F-4D97-AF65-F5344CB8AC3E}">
        <p14:creationId xmlns:p14="http://schemas.microsoft.com/office/powerpoint/2010/main" val="27504816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9FE02D8-890F-9265-8225-5665E2F7888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D96A52-996B-61A7-0D99-6428B4966B42}"/>
              </a:ext>
            </a:extLst>
          </p:cNvPr>
          <p:cNvSpPr txBox="1"/>
          <p:nvPr/>
        </p:nvSpPr>
        <p:spPr>
          <a:xfrm>
            <a:off x="533400" y="330200"/>
            <a:ext cx="2286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100" b="1">
                <a:solidFill>
                  <a:srgbClr val="10B981"/>
                </a:solidFill>
                <a:latin typeface="Aptos" panose="020B0004020202020204" pitchFamily="34" charset="0"/>
              </a:rPr>
              <a:t>06 / CODE MAP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A6246F-FA35-BF9A-BBA6-CA44D138EA47}"/>
              </a:ext>
            </a:extLst>
          </p:cNvPr>
          <p:cNvSpPr txBox="1"/>
          <p:nvPr/>
        </p:nvSpPr>
        <p:spPr>
          <a:xfrm>
            <a:off x="533400" y="660400"/>
            <a:ext cx="9906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F1F5F9"/>
                </a:solidFill>
                <a:latin typeface="Aptos" panose="020B0004020202020204" pitchFamily="34" charset="0"/>
              </a:rPr>
              <a:t>Mapping slide với mã nguồn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7CF6F09-4DB8-3D76-D9E6-9F2E24168909}"/>
              </a:ext>
            </a:extLst>
          </p:cNvPr>
          <p:cNvSpPr txBox="1"/>
          <p:nvPr/>
        </p:nvSpPr>
        <p:spPr>
          <a:xfrm>
            <a:off x="558800" y="1270000"/>
            <a:ext cx="1041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400">
                <a:solidFill>
                  <a:srgbClr val="94A3B8"/>
                </a:solidFill>
                <a:latin typeface="Aptos" panose="020B0004020202020204" pitchFamily="34" charset="0"/>
              </a:rPr>
              <a:t>Các file chính để hội đồng kiểm tra nhanh.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BCA9B68-213B-08E7-ECB7-405D626FF376}"/>
              </a:ext>
            </a:extLst>
          </p:cNvPr>
          <p:cNvSpPr/>
          <p:nvPr/>
        </p:nvSpPr>
        <p:spPr>
          <a:xfrm>
            <a:off x="533400" y="1600200"/>
            <a:ext cx="111252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CB59C6-CA64-29E9-1C84-187C2CE1CB8E}"/>
              </a:ext>
            </a:extLst>
          </p:cNvPr>
          <p:cNvSpPr txBox="1"/>
          <p:nvPr/>
        </p:nvSpPr>
        <p:spPr>
          <a:xfrm>
            <a:off x="990600" y="2006600"/>
            <a:ext cx="10160000" cy="156966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700">
                <a:solidFill>
                  <a:srgbClr val="F1F5F9"/>
                </a:solidFill>
                <a:latin typeface="Aptos" panose="020B0004020202020204" pitchFamily="34" charset="0"/>
              </a:rPr>
              <a:t>• GatewayPaymentService.java: route node, aggregate stats, benchmark distributed.
• PaymentStreamService.java: EOS/ALO processing, WAL, event-time benchmark.
• GlobalDeduplicationStore.java: atomic claim global idempotency key.
• BenchmarkPanel.jsx + StatsGrid.jsx: dashboard metrics.
• PaymentStreamServiceTests.java: test duplicate, race condition, node failure, benchmark.
• application-node-a/b/c.yml + application-gateway.yml: multi-process config.</a:t>
            </a:r>
          </a:p>
        </p:txBody>
      </p:sp>
    </p:spTree>
    <p:extLst>
      <p:ext uri="{BB962C8B-B14F-4D97-AF65-F5344CB8AC3E}">
        <p14:creationId xmlns:p14="http://schemas.microsoft.com/office/powerpoint/2010/main" val="33709412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C9E50D7-B87E-808B-65A7-EE68DC2CC63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2FA511-4D8D-799F-E4FE-94B4919A2E06}"/>
              </a:ext>
            </a:extLst>
          </p:cNvPr>
          <p:cNvSpPr txBox="1"/>
          <p:nvPr/>
        </p:nvSpPr>
        <p:spPr>
          <a:xfrm>
            <a:off x="533400" y="330200"/>
            <a:ext cx="2286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100" b="1">
                <a:solidFill>
                  <a:srgbClr val="10B981"/>
                </a:solidFill>
                <a:latin typeface="Aptos" panose="020B0004020202020204" pitchFamily="34" charset="0"/>
              </a:rPr>
              <a:t>06 / LIMITS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C3A201-7587-5072-98F1-8A24A12DCD3C}"/>
              </a:ext>
            </a:extLst>
          </p:cNvPr>
          <p:cNvSpPr txBox="1"/>
          <p:nvPr/>
        </p:nvSpPr>
        <p:spPr>
          <a:xfrm>
            <a:off x="533400" y="660400"/>
            <a:ext cx="9906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F1F5F9"/>
                </a:solidFill>
                <a:latin typeface="Aptos" panose="020B0004020202020204" pitchFamily="34" charset="0"/>
              </a:rPr>
              <a:t>Hạn chế hiện tại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F3EE82-70DE-57F9-3D0D-6B56B43E16BA}"/>
              </a:ext>
            </a:extLst>
          </p:cNvPr>
          <p:cNvSpPr txBox="1"/>
          <p:nvPr/>
        </p:nvSpPr>
        <p:spPr>
          <a:xfrm>
            <a:off x="558800" y="1270000"/>
            <a:ext cx="1041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400">
                <a:solidFill>
                  <a:srgbClr val="94A3B8"/>
                </a:solidFill>
                <a:latin typeface="Aptos" panose="020B0004020202020204" pitchFamily="34" charset="0"/>
              </a:rPr>
              <a:t>Thiết kế phù hợp scope môn học, chưa phải production-grade payment platform.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1950389-3891-3784-D090-20188118D379}"/>
              </a:ext>
            </a:extLst>
          </p:cNvPr>
          <p:cNvSpPr/>
          <p:nvPr/>
        </p:nvSpPr>
        <p:spPr>
          <a:xfrm>
            <a:off x="533400" y="1600200"/>
            <a:ext cx="111252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390576-05EA-762F-8180-A1BA2A593E9B}"/>
              </a:ext>
            </a:extLst>
          </p:cNvPr>
          <p:cNvSpPr txBox="1"/>
          <p:nvPr/>
        </p:nvSpPr>
        <p:spPr>
          <a:xfrm>
            <a:off x="1092200" y="2006600"/>
            <a:ext cx="9906000" cy="146193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900">
                <a:solidFill>
                  <a:srgbClr val="F1F5F9"/>
                </a:solidFill>
                <a:latin typeface="Aptos" panose="020B0004020202020204" pitchFamily="34" charset="0"/>
              </a:rPr>
              <a:t>• Global dedup store là coordination point tập trung.
• Account state được seed giống nhau ở các node để đơn giản hóa demo.
• Chưa có distributed commit protocol kiểu 2PC cho transfer chạm nhiều shard account.
• Benchmark chạy local, network WAN latency chưa được mô phỏng sâu.
• Backpressure hiện là simulation counter, chưa phải queue broker thực như Kafka.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339D7C3-614B-3179-B77D-BAE74A7A90C4}"/>
              </a:ext>
            </a:extLst>
          </p:cNvPr>
          <p:cNvSpPr/>
          <p:nvPr/>
        </p:nvSpPr>
        <p:spPr>
          <a:xfrm>
            <a:off x="1168400" y="4470400"/>
            <a:ext cx="9855200" cy="736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59C0079-9222-A1AE-CCDC-C5DED4AF7F35}"/>
              </a:ext>
            </a:extLst>
          </p:cNvPr>
          <p:cNvSpPr txBox="1"/>
          <p:nvPr/>
        </p:nvSpPr>
        <p:spPr>
          <a:xfrm>
            <a:off x="1422400" y="4699000"/>
            <a:ext cx="9347200" cy="492443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vi-VN" sz="1600" b="1">
                <a:solidFill>
                  <a:srgbClr val="F1F5F9"/>
                </a:solidFill>
                <a:latin typeface="Aptos" panose="020B0004020202020204" pitchFamily="34" charset="0"/>
              </a:rPr>
              <a:t>Các hạn chế này không phá mục tiêu chính: chứng minh EOS/idempotent payment trên kiến trúc phân tán demo.</a:t>
            </a:r>
          </a:p>
        </p:txBody>
      </p:sp>
    </p:spTree>
    <p:extLst>
      <p:ext uri="{BB962C8B-B14F-4D97-AF65-F5344CB8AC3E}">
        <p14:creationId xmlns:p14="http://schemas.microsoft.com/office/powerpoint/2010/main" val="37191568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6343256-1592-60D7-8C61-D4BEA9D09EC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3959C7-78AE-5FF0-0DFB-6C7624D4A798}"/>
              </a:ext>
            </a:extLst>
          </p:cNvPr>
          <p:cNvSpPr txBox="1"/>
          <p:nvPr/>
        </p:nvSpPr>
        <p:spPr>
          <a:xfrm>
            <a:off x="0" y="1300000"/>
            <a:ext cx="12192000" cy="83099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vi-VN" sz="5400" b="1">
                <a:solidFill>
                  <a:srgbClr val="10B981"/>
                </a:solidFill>
                <a:latin typeface="Aptos" panose="020B0004020202020204" pitchFamily="34" charset="0"/>
              </a:rPr>
              <a:t>Cảm ơn!</a:t>
            </a:r>
          </a:p>
        </p:txBody>
      </p:sp>
      <p:sp>
        <p:nvSpPr>
          <p:cNvPr id="10" name="Subtitle"/>
          <p:cNvSpPr txBox="1"/>
          <p:nvPr/>
        </p:nvSpPr>
        <p:spPr>
          <a:xfrm>
            <a:off x="0" y="2200000"/>
            <a:ext cx="12192000" cy="30000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vi-VN" sz="1600">
                <a:solidFill>
                  <a:srgbClr val="94A3B8"/>
                </a:solidFill>
                <a:latin typeface="Aptos" panose="020B0004020202020204" pitchFamily="34" charset="0"/>
              </a:rPr>
              <a:t>Hội đồng có câu hỏi không?</a:t>
            </a:r>
          </a:p>
        </p:txBody>
      </p:sp>
      <p:sp>
        <p:nvSpPr>
          <p:cNvPr id="11" name="Divider"/>
          <p:cNvSpPr/>
          <p:nvPr/>
        </p:nvSpPr>
        <p:spPr>
          <a:xfrm>
            <a:off x="4064000" y="2700000"/>
            <a:ext cx="40640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2" name="ProjectInfo"/>
          <p:cNvSpPr txBox="1"/>
          <p:nvPr/>
        </p:nvSpPr>
        <p:spPr>
          <a:xfrm>
            <a:off x="1524000" y="2800000"/>
            <a:ext cx="9144000" cy="900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txBody>
          <a:bodyPr rtlCol="0" anchor="ctr" lIns="228600" tIns="91440" rIns="228600" bIns="91440"/>
          <a:lstStyle/>
          <a:p>
            <a:pPr algn="ctr"/>
            <a:r>
              <a:rPr lang="vi-VN" sz="1300" b="1">
                <a:solidFill>
                  <a:srgbClr val="F1F5F9"/>
                </a:solidFill>
                <a:latin typeface="Aptos" panose="020B0004020202020204" pitchFamily="34" charset="0"/>
              </a:rPr>
              <a:t>Nguyễn Hoài Phương  ·  N23DCCN183  ·  D23CQCN03-N</a:t>
            </a:r>
          </a:p>
          <a:p>
            <a:pPr algn="ctr"/>
            <a:r>
              <a:rPr lang="vi-VN" sz="1100">
                <a:solidFill>
                  <a:srgbClr val="10B981"/>
                </a:solidFill>
                <a:latin typeface="Aptos" panose="020B0004020202020204" pitchFamily="34" charset="0"/>
              </a:rPr>
              <a:t>Đề tài #117  ·  Java 21 + Spring Boot + H2 + React + Vite  ·  GVHD: Lê Hà Thanh</a:t>
            </a:r>
          </a:p>
        </p:txBody>
      </p:sp>
    </p:spTree>
    <p:extLst>
      <p:ext uri="{BB962C8B-B14F-4D97-AF65-F5344CB8AC3E}">
        <p14:creationId xmlns:p14="http://schemas.microsoft.com/office/powerpoint/2010/main" val="36021412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1771</Words>
  <Application>Microsoft Office PowerPoint</Application>
  <PresentationFormat>Widescreen</PresentationFormat>
  <Paragraphs>196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Aptos</vt:lpstr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Nguyễn Phương</dc:creator>
  <cp:lastModifiedBy>Nguyễn Phương</cp:lastModifiedBy>
  <cp:revision>2</cp:revision>
  <dcterms:created xsi:type="dcterms:W3CDTF">2026-05-31T14:26:13Z</dcterms:created>
  <dcterms:modified xsi:type="dcterms:W3CDTF">2026-05-31T14:35:27Z</dcterms:modified>
</cp:coreProperties>
</file>